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Тема пары: задание №10 ЕГЭ 2027 — IP-адресация и маска подсети. Пара 3 часа.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Тема переехала из №13, ответ — сумма октетов. Документы ФИПИ пока проект.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4 байта = 4 октета. Октет — 8 бит, число от 0 до 255.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Вычитаем наибольшую степень двойки. Пусть каждый переведёт 159 и 252.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Сначала только единицы, потом только нули. Префикс — количество единиц.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Расписать на доске целиком один раз.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Пример 192.168.1.3 с маской 255.255.255.0: дом 192.168.1, квартира 3.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Широковещательный — последний адрес сети. Компьютеру его не назначают, поэтому наибольший адрес компьютера на 1 меньше.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Два адреса всегда заняты: адрес сети и широковещательный.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Сначала пусть решат сами, расчёт на следующем слайде. Ответ 224.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Ответ 224, маска 255.255.255.224.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AND — 1, только если оба бита 1. OR — 1, если хотя бы один бит 1.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Запустить в терминале python3 или в PyCharm.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strict=False обязателен: без него ip_network падает, если адрес не является адресом сети.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Ученики считают сами 3–4 минуты. Ответ 176.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Байт маски больше 240 и меньше 250 — только 248.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Тип 1: найти адрес сети.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Без перевода в двоичную: блок = 256 − октет маски.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20–25 минут. Ответы на следующем слайде.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Разобрать вслух 1–2 задачи, остальные — по таблице.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Ответ 516 совпадает с ключом ФИПИ.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Общий метод: оставшиеся единицы дают нижнюю границу байта маски, исчезнувшие — верхнюю.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5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 / 36</a:t>
            </a:r>
          </a:p>
        </p:txBody>
      </p:sp>
      <p:sp>
        <p:nvSpPr>
          <p:cNvPr id="7" name="Титул"/>
          <p:cNvSpPr/>
          <p:nvPr/>
        </p:nvSpPr>
        <p:spPr>
          <a:xfrm>
            <a:off x="2011680" y="1417320"/>
            <a:ext cx="8168335" cy="1737360"/>
          </a:xfrm>
          <a:prstGeom prst="roundRect">
            <a:avLst>
              <a:gd name="adj" fmla="val 12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IP-адресация и маска подсети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Задание №10. ЕГЭ по информатике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66160"/>
            <a:ext cx="8168335" cy="2194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Шарф Лилия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Подготовительные курсы СПбПУ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Задание №10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Задание №10 в ЕГЭ 2027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 / 36</a:t>
            </a:r>
          </a:p>
        </p:txBody>
      </p:sp>
      <p:sp>
        <p:nvSpPr>
          <p:cNvPr id="8" name="Число: базовый уровень"/>
          <p:cNvSpPr/>
          <p:nvPr/>
        </p:nvSpPr>
        <p:spPr>
          <a:xfrm>
            <a:off x="457200" y="150876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базовый уровень</a:t>
            </a:r>
          </a:p>
        </p:txBody>
      </p:sp>
      <p:sp>
        <p:nvSpPr>
          <p:cNvPr id="11" name="Число: первичный балл"/>
          <p:cNvSpPr/>
          <p:nvPr/>
        </p:nvSpPr>
        <p:spPr>
          <a:xfrm>
            <a:off x="457200" y="27432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79776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первичный балл</a:t>
            </a:r>
          </a:p>
        </p:txBody>
      </p:sp>
      <p:sp>
        <p:nvSpPr>
          <p:cNvPr id="14" name="Число: минуты на задание"/>
          <p:cNvSpPr/>
          <p:nvPr/>
        </p:nvSpPr>
        <p:spPr>
          <a:xfrm>
            <a:off x="457200" y="3977639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5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7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минуты на задание</a:t>
            </a:r>
          </a:p>
        </p:txBody>
      </p:sp>
      <p:sp>
        <p:nvSpPr>
          <p:cNvPr id="17" name="Число: решили в 2026 (как №13)"/>
          <p:cNvSpPr/>
          <p:nvPr/>
        </p:nvSpPr>
        <p:spPr>
          <a:xfrm>
            <a:off x="457200" y="5212079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48655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52,0 %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70447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решили в 2026 (как №13)</a:t>
            </a:r>
          </a:p>
        </p:txBody>
      </p:sp>
      <p:sp>
        <p:nvSpPr>
          <p:cNvPr id="20" name="Блок: Что изменилось в 2027 году"/>
          <p:cNvSpPr/>
          <p:nvPr/>
        </p:nvSpPr>
        <p:spPr>
          <a:xfrm>
            <a:off x="2834640" y="1508760"/>
            <a:ext cx="8899855" cy="19659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Шапка блока: Что изменилось в 2027 году"/>
          <p:cNvSpPr/>
          <p:nvPr/>
        </p:nvSpPr>
        <p:spPr>
          <a:xfrm>
            <a:off x="2834640" y="1508760"/>
            <a:ext cx="889985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Что изменилось в 2027 году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947672"/>
            <a:ext cx="8808415" cy="14904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Тема «маска подсети» переехала из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№13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в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№10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Старое задание №10 (поиск слов в текстовом процессоре) исключено из экзамена.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Без компьютерных программ: решается на бумаге, Python — для проверки.</a:t>
            </a:r>
          </a:p>
        </p:txBody>
      </p:sp>
      <p:sp>
        <p:nvSpPr>
          <p:cNvPr id="23" name="Блок: Формат ответа: сумма октетов"/>
          <p:cNvSpPr/>
          <p:nvPr/>
        </p:nvSpPr>
        <p:spPr>
          <a:xfrm>
            <a:off x="2834640" y="3703320"/>
            <a:ext cx="8899855" cy="21488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Шапка блока: Формат ответа: сумма октетов"/>
          <p:cNvSpPr/>
          <p:nvPr/>
        </p:nvSpPr>
        <p:spPr>
          <a:xfrm>
            <a:off x="2834640" y="3703320"/>
            <a:ext cx="889985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Формат ответа: сумма октетов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142231"/>
            <a:ext cx="8808415" cy="16733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Если в ответе получается IP-адрес, записывают сумму его октетов.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100.20.3.4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→  100 + 20 + 3 + 4 =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127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Раньше писали адрес без разделителей: </a:t>
            </a:r>
            <a:r>
              <a:rPr sz="1600" b="0" i="0">
                <a:solidFill>
                  <a:srgbClr val="595959"/>
                </a:solidFill>
                <a:latin typeface="Courier New"/>
              </a:rPr>
              <a:t>1002034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6007608"/>
            <a:ext cx="8899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Проект ФИПИ 2027; процент решивших — методические рекомендации ФИПИ по итогам ЕГЭ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IP-адрес: адрес сети и адрес узла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 / 36</a:t>
            </a:r>
          </a:p>
        </p:txBody>
      </p:sp>
      <p:sp>
        <p:nvSpPr>
          <p:cNvPr id="8" name="Октет 1"/>
          <p:cNvSpPr/>
          <p:nvPr/>
        </p:nvSpPr>
        <p:spPr>
          <a:xfrm>
            <a:off x="822960" y="160020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286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Courier New"/>
              </a:rPr>
              <a:t>11000000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00200"/>
            <a:ext cx="457200" cy="82296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·</a:t>
            </a:r>
          </a:p>
        </p:txBody>
      </p:sp>
      <p:sp>
        <p:nvSpPr>
          <p:cNvPr id="11" name="Октет 2"/>
          <p:cNvSpPr/>
          <p:nvPr/>
        </p:nvSpPr>
        <p:spPr>
          <a:xfrm>
            <a:off x="3566160" y="160020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168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286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Courier New"/>
              </a:rPr>
              <a:t>10101000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00200"/>
            <a:ext cx="457200" cy="82296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·</a:t>
            </a:r>
          </a:p>
        </p:txBody>
      </p:sp>
      <p:sp>
        <p:nvSpPr>
          <p:cNvPr id="14" name="Октет 3"/>
          <p:cNvSpPr/>
          <p:nvPr/>
        </p:nvSpPr>
        <p:spPr>
          <a:xfrm>
            <a:off x="6309360" y="160020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286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Courier New"/>
              </a:rPr>
              <a:t>00000001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600200"/>
            <a:ext cx="457200" cy="82296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·</a:t>
            </a:r>
          </a:p>
        </p:txBody>
      </p:sp>
      <p:sp>
        <p:nvSpPr>
          <p:cNvPr id="17" name="Октет 4"/>
          <p:cNvSpPr/>
          <p:nvPr/>
        </p:nvSpPr>
        <p:spPr>
          <a:xfrm>
            <a:off x="9052560" y="160020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68880"/>
            <a:ext cx="228600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Courier New"/>
              </a:rPr>
              <a:t>00000011</a:t>
            </a:r>
          </a:p>
        </p:txBody>
      </p:sp>
      <p:sp>
        <p:nvSpPr>
          <p:cNvPr id="19" name="Часть сети"/>
          <p:cNvSpPr/>
          <p:nvPr/>
        </p:nvSpPr>
        <p:spPr>
          <a:xfrm>
            <a:off x="822960" y="3063239"/>
            <a:ext cx="7772400" cy="457200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адрес сети (при маске 255.255.255.0)</a:t>
            </a:r>
          </a:p>
        </p:txBody>
      </p:sp>
      <p:sp>
        <p:nvSpPr>
          <p:cNvPr id="20" name="Часть узла"/>
          <p:cNvSpPr/>
          <p:nvPr/>
        </p:nvSpPr>
        <p:spPr>
          <a:xfrm>
            <a:off x="9052560" y="3063239"/>
            <a:ext cx="2286000" cy="457200"/>
          </a:xfrm>
          <a:prstGeom prst="rect">
            <a:avLst/>
          </a:prstGeom>
          <a:solidFill>
            <a:srgbClr val="D6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адрес узла</a:t>
            </a:r>
          </a:p>
        </p:txBody>
      </p:sp>
      <p:sp>
        <p:nvSpPr>
          <p:cNvPr id="21" name="Блок: Определение"/>
          <p:cNvSpPr/>
          <p:nvPr/>
        </p:nvSpPr>
        <p:spPr>
          <a:xfrm>
            <a:off x="457200" y="3840479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Шапка блока: Определение"/>
          <p:cNvSpPr/>
          <p:nvPr/>
        </p:nvSpPr>
        <p:spPr>
          <a:xfrm>
            <a:off x="457200" y="3840479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Определение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79391"/>
            <a:ext cx="5394960" cy="1581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IP-адрес (IPv4) — 32 бита: 4 байта, или 4 октета, записанные числами от 0 до 255 через точку.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Адрес сети — общая часть для всех компьютеров сети, адрес узла — номер компьютера в ней.</a:t>
            </a:r>
          </a:p>
        </p:txBody>
      </p:sp>
      <p:sp>
        <p:nvSpPr>
          <p:cNvPr id="24" name="Блок: Важно"/>
          <p:cNvSpPr/>
          <p:nvPr/>
        </p:nvSpPr>
        <p:spPr>
          <a:xfrm>
            <a:off x="6245352" y="3840479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Шапка блока: Важно"/>
          <p:cNvSpPr/>
          <p:nvPr/>
        </p:nvSpPr>
        <p:spPr>
          <a:xfrm>
            <a:off x="6245352" y="3840479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Важно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4279391"/>
            <a:ext cx="5394960" cy="1581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Ведущие нули не отбрасываем: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3 = 00000011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Где кончается адрес сети и начинается адрес узла, определяет маска.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Перевод октета в двоичную запись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4 / 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5486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Степень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2⁷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2⁶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2⁵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2⁴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2³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2²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2¹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486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  <p:sp>
        <p:nvSpPr>
          <p:cNvPr id="9" name="Блок: Пример: 159"/>
          <p:cNvSpPr/>
          <p:nvPr/>
        </p:nvSpPr>
        <p:spPr>
          <a:xfrm>
            <a:off x="457200" y="288036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Шапка блока: Пример: 159"/>
          <p:cNvSpPr/>
          <p:nvPr/>
        </p:nvSpPr>
        <p:spPr>
          <a:xfrm>
            <a:off x="457200" y="28803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Пример: 159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9272"/>
            <a:ext cx="5394960" cy="25420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159 − 128 = 31 → 1 в разряде 128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64 и 32 не помещаются → 0,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31 − 16 = 15 → 1;  15 − 8 = 7 →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7 − 4 = 3 → 1;  3 − 2 = 1 → 1;  1 − 1 = 0 →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159 = </a:t>
            </a:r>
            <a:r>
              <a:rPr sz="1600" b="1" i="0">
                <a:solidFill>
                  <a:srgbClr val="3333B2"/>
                </a:solidFill>
                <a:latin typeface="Courier New"/>
              </a:rPr>
              <a:t>10011111</a:t>
            </a:r>
          </a:p>
        </p:txBody>
      </p:sp>
      <p:sp>
        <p:nvSpPr>
          <p:cNvPr id="12" name="Блок: Числа, которые стоит помнить"/>
          <p:cNvSpPr/>
          <p:nvPr/>
        </p:nvSpPr>
        <p:spPr>
          <a:xfrm>
            <a:off x="6245352" y="288036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Шапка блока: Числа, которые стоит помнить"/>
          <p:cNvSpPr/>
          <p:nvPr/>
        </p:nvSpPr>
        <p:spPr>
          <a:xfrm>
            <a:off x="6245352" y="28803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Числа, которые стоит помнить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3319272"/>
            <a:ext cx="5394960" cy="25420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255 = 11111111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252 = 11111100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248 = 11111000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240 = 11110000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224 = 11100000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192 = 11000000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Маска подсети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5 / 36</a:t>
            </a:r>
          </a:p>
        </p:txBody>
      </p:sp>
      <p:sp>
        <p:nvSpPr>
          <p:cNvPr id="8" name="Блок: Правило"/>
          <p:cNvSpPr/>
          <p:nvPr/>
        </p:nvSpPr>
        <p:spPr>
          <a:xfrm>
            <a:off x="457200" y="1508760"/>
            <a:ext cx="11277295" cy="1353312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Правило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Правило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77824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Маска — тоже 32 бита: сначала идут только единицы (часть сети), затем только нули (часть узла).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Префикс /n — количество единиц в маске: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255.255.252.0 = /22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063239"/>
          <a:ext cx="11384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2"/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</a:tblGrid>
              <a:tr h="4876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Октет маски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876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Двоичная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00000000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10000000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11000000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11100000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11110000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11111000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11111100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11111110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11111111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876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Единиц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754879"/>
            <a:ext cx="11277295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Пример: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255.255.240.0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=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11111111.11111111.11110000.00000000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20 единиц, /20.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255.255.250.0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не маска: 250 =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11111010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единицы и нули перемешаны.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Адрес сети = IP-адрес AND маска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6 / 36</a:t>
            </a:r>
          </a:p>
        </p:txBody>
      </p:sp>
      <p:sp>
        <p:nvSpPr>
          <p:cNvPr id="8" name="Код"/>
          <p:cNvSpPr/>
          <p:nvPr/>
        </p:nvSpPr>
        <p:spPr>
          <a:xfrm>
            <a:off x="457200" y="1508760"/>
            <a:ext cx="11277295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IP-адрес   135.213.234.10 → 10000111.11010101.11101010.00001010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Маска      255.255.248.0  → 11111111.11111111.11111000.00000000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Адрес сети 135.213.232.0  → 10000111.11010101.11101000.00000000</a:t>
            </a:r>
          </a:p>
        </p:txBody>
      </p:sp>
      <p:sp>
        <p:nvSpPr>
          <p:cNvPr id="9" name="Блок: Что видно"/>
          <p:cNvSpPr/>
          <p:nvPr/>
        </p:nvSpPr>
        <p:spPr>
          <a:xfrm>
            <a:off x="457200" y="379476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Шапка блока: Что видно"/>
          <p:cNvSpPr/>
          <p:nvPr/>
        </p:nvSpPr>
        <p:spPr>
          <a:xfrm>
            <a:off x="457200" y="3794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Что видно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33672"/>
            <a:ext cx="5394960" cy="1581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Октет маски 255 → октет IP не меняется.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Октет маски 0 → в адресе сети 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Считать нужно только «граничный» октет.</a:t>
            </a:r>
          </a:p>
        </p:txBody>
      </p:sp>
      <p:sp>
        <p:nvSpPr>
          <p:cNvPr id="12" name="Блок: Ответ в формате 2027"/>
          <p:cNvSpPr/>
          <p:nvPr/>
        </p:nvSpPr>
        <p:spPr>
          <a:xfrm>
            <a:off x="6245352" y="379476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Шапка блока: Ответ в формате 2027"/>
          <p:cNvSpPr/>
          <p:nvPr/>
        </p:nvSpPr>
        <p:spPr>
          <a:xfrm>
            <a:off x="6245352" y="3794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Ответ в формате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4233672"/>
            <a:ext cx="5394960" cy="1581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135.213.232.0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135 + 213 + 232 + 0 =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580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Аналогия: IP-адрес как адрес квартиры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7 / 36</a:t>
            </a:r>
          </a:p>
        </p:txBody>
      </p:sp>
      <p:sp>
        <p:nvSpPr>
          <p:cNvPr id="8" name="Блок: Адрес сети = номер дома"/>
          <p:cNvSpPr/>
          <p:nvPr/>
        </p:nvSpPr>
        <p:spPr>
          <a:xfrm>
            <a:off x="457200" y="1508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Адрес сети = номер дома"/>
          <p:cNvSpPr/>
          <p:nvPr/>
        </p:nvSpPr>
        <p:spPr>
          <a:xfrm>
            <a:off x="457200" y="1508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Адрес сети = номер дома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5394960" cy="9418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Общий для всех квартир: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192.168.1.0</a:t>
            </a:r>
          </a:p>
        </p:txBody>
      </p:sp>
      <p:sp>
        <p:nvSpPr>
          <p:cNvPr id="11" name="Блок: Адрес узла = номер квартиры"/>
          <p:cNvSpPr/>
          <p:nvPr/>
        </p:nvSpPr>
        <p:spPr>
          <a:xfrm>
            <a:off x="6245352" y="1508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Адрес узла = номер квартиры"/>
          <p:cNvSpPr/>
          <p:nvPr/>
        </p:nvSpPr>
        <p:spPr>
          <a:xfrm>
            <a:off x="6245352" y="1508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Адрес узла = номер квартиры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47672"/>
            <a:ext cx="5394960" cy="9418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Свой у каждого компьютера: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.3</a:t>
            </a:r>
          </a:p>
        </p:txBody>
      </p:sp>
      <p:sp>
        <p:nvSpPr>
          <p:cNvPr id="14" name="Блок: Маска = граница"/>
          <p:cNvSpPr/>
          <p:nvPr/>
        </p:nvSpPr>
        <p:spPr>
          <a:xfrm>
            <a:off x="457200" y="31089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Маска = граница"/>
          <p:cNvSpPr/>
          <p:nvPr/>
        </p:nvSpPr>
        <p:spPr>
          <a:xfrm>
            <a:off x="457200" y="31089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Маска = граница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47872"/>
            <a:ext cx="5394960" cy="9418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Сколько цифр адреса — дом, а сколько — квартира: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255.255.255.0</a:t>
            </a:r>
          </a:p>
        </p:txBody>
      </p:sp>
      <p:sp>
        <p:nvSpPr>
          <p:cNvPr id="17" name="Блок: Широковещательный = объявление в подъезде"/>
          <p:cNvSpPr/>
          <p:nvPr/>
        </p:nvSpPr>
        <p:spPr>
          <a:xfrm>
            <a:off x="6245352" y="31089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Шапка блока: Широковещательный = объявление в подъезде"/>
          <p:cNvSpPr/>
          <p:nvPr/>
        </p:nvSpPr>
        <p:spPr>
          <a:xfrm>
            <a:off x="6245352" y="31089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Широковещательный = объявление в подъезде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547872"/>
            <a:ext cx="5394960" cy="9418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Получают сразу все квартиры: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192.168.1.255</a:t>
            </a:r>
          </a:p>
        </p:txBody>
      </p:sp>
      <p:sp>
        <p:nvSpPr>
          <p:cNvPr id="20" name="Блок: Сколько квартир"/>
          <p:cNvSpPr/>
          <p:nvPr/>
        </p:nvSpPr>
        <p:spPr>
          <a:xfrm>
            <a:off x="457200" y="4754879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Шапка блока: Сколько квартир"/>
          <p:cNvSpPr/>
          <p:nvPr/>
        </p:nvSpPr>
        <p:spPr>
          <a:xfrm>
            <a:off x="457200" y="4754879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Сколько квартир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93791"/>
            <a:ext cx="11185855" cy="8046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Квартир (компьютеров) в доме 2ᵏ − 2: номер 0 — табличка с адресом дома, последний номер — доска объявлений.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Широковещательный адрес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8 / 36</a:t>
            </a:r>
          </a:p>
        </p:txBody>
      </p:sp>
      <p:sp>
        <p:nvSpPr>
          <p:cNvPr id="8" name="Блок: Определение"/>
          <p:cNvSpPr/>
          <p:nvPr/>
        </p:nvSpPr>
        <p:spPr>
          <a:xfrm>
            <a:off x="457200" y="1508760"/>
            <a:ext cx="11277295" cy="155448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Определение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Определение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7899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Последний адрес сети: все биты узла равны 1. Сообщение на этот адрес получают все компьютеры сети.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Компьютеру его не назначают: наибольший адрес компьютера = широковещательный − 1.</a:t>
            </a:r>
          </a:p>
        </p:txBody>
      </p:sp>
      <p:sp>
        <p:nvSpPr>
          <p:cNvPr id="11" name="Блок: Адресов в сети"/>
          <p:cNvSpPr/>
          <p:nvPr/>
        </p:nvSpPr>
        <p:spPr>
          <a:xfrm>
            <a:off x="457200" y="324612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Адресов в сети"/>
          <p:cNvSpPr/>
          <p:nvPr/>
        </p:nvSpPr>
        <p:spPr>
          <a:xfrm>
            <a:off x="457200" y="3246120"/>
            <a:ext cx="269748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Адресов в сети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85031"/>
            <a:ext cx="2606040" cy="9875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333B2"/>
                </a:solidFill>
                <a:latin typeface="Arial"/>
              </a:rPr>
              <a:t>2³²⁻ⁿ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все адреса, включая адрес сети и широковещательный</a:t>
            </a:r>
          </a:p>
        </p:txBody>
      </p:sp>
      <p:sp>
        <p:nvSpPr>
          <p:cNvPr id="14" name="Блок: Компьютеров"/>
          <p:cNvSpPr/>
          <p:nvPr/>
        </p:nvSpPr>
        <p:spPr>
          <a:xfrm>
            <a:off x="3328416" y="324612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Компьютеров"/>
          <p:cNvSpPr/>
          <p:nvPr/>
        </p:nvSpPr>
        <p:spPr>
          <a:xfrm>
            <a:off x="3328416" y="3246120"/>
            <a:ext cx="269748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Компьютеров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3685031"/>
            <a:ext cx="2606040" cy="9875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333B2"/>
                </a:solidFill>
                <a:latin typeface="Arial"/>
              </a:rPr>
              <a:t>2³²⁻ⁿ − 2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без адреса сети и широковещательного</a:t>
            </a:r>
          </a:p>
        </p:txBody>
      </p:sp>
      <p:sp>
        <p:nvSpPr>
          <p:cNvPr id="17" name="Блок: Адрес сети"/>
          <p:cNvSpPr/>
          <p:nvPr/>
        </p:nvSpPr>
        <p:spPr>
          <a:xfrm>
            <a:off x="6199632" y="324612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Шапка блока: Адрес сети"/>
          <p:cNvSpPr/>
          <p:nvPr/>
        </p:nvSpPr>
        <p:spPr>
          <a:xfrm>
            <a:off x="6199632" y="3246120"/>
            <a:ext cx="269748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Адрес сети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685031"/>
            <a:ext cx="2606040" cy="9875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333B2"/>
                </a:solidFill>
                <a:latin typeface="Arial"/>
              </a:rPr>
              <a:t>биты узла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наименьший адрес в сети</a:t>
            </a:r>
          </a:p>
        </p:txBody>
      </p:sp>
      <p:sp>
        <p:nvSpPr>
          <p:cNvPr id="20" name="Блок: Широковещательный"/>
          <p:cNvSpPr/>
          <p:nvPr/>
        </p:nvSpPr>
        <p:spPr>
          <a:xfrm>
            <a:off x="9070848" y="324612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Шапка блока: Широковещательный"/>
          <p:cNvSpPr/>
          <p:nvPr/>
        </p:nvSpPr>
        <p:spPr>
          <a:xfrm>
            <a:off x="9070848" y="3246120"/>
            <a:ext cx="269748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Широковещательный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685031"/>
            <a:ext cx="2606040" cy="9875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3333B2"/>
                </a:solidFill>
                <a:latin typeface="Arial"/>
              </a:rPr>
              <a:t>биты узла 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наибольший адрес в сети</a:t>
            </a:r>
          </a:p>
        </p:txBody>
      </p:sp>
      <p:sp>
        <p:nvSpPr>
          <p:cNvPr id="23" name="Код"/>
          <p:cNvSpPr/>
          <p:nvPr/>
        </p:nvSpPr>
        <p:spPr>
          <a:xfrm>
            <a:off x="457200" y="4892040"/>
            <a:ext cx="11277295" cy="1005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135.213.234.10 / 255.255.248.0:  сеть 135.213.232.0,  блок 256 − 248 =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широковещательный 135.213.(232 + 8 − 1).255 = 135.213.239.255,  компьютер max …239.254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Как подобрать маску для N компьютеров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9 / 36</a:t>
            </a:r>
          </a:p>
        </p:txBody>
      </p:sp>
      <p:sp>
        <p:nvSpPr>
          <p:cNvPr id="8" name="Шаг 1"/>
          <p:cNvSpPr/>
          <p:nvPr/>
        </p:nvSpPr>
        <p:spPr>
          <a:xfrm>
            <a:off x="457200" y="157657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5166359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Адресов нужно N + 2: ещё адрес сети и широковещательный</a:t>
            </a:r>
          </a:p>
        </p:txBody>
      </p:sp>
      <p:sp>
        <p:nvSpPr>
          <p:cNvPr id="10" name="Шаг 2"/>
          <p:cNvSpPr/>
          <p:nvPr/>
        </p:nvSpPr>
        <p:spPr>
          <a:xfrm>
            <a:off x="457200" y="226085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3036"/>
            <a:ext cx="5166359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Ищем наименьшее k, при котором 2ᵏ ≥ N + 2 — столько бит отдаём под узлы</a:t>
            </a:r>
          </a:p>
        </p:txBody>
      </p:sp>
      <p:sp>
        <p:nvSpPr>
          <p:cNvPr id="12" name="Шаг 3"/>
          <p:cNvSpPr/>
          <p:nvPr/>
        </p:nvSpPr>
        <p:spPr>
          <a:xfrm>
            <a:off x="457200" y="2886455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77312"/>
            <a:ext cx="5166359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В маске 32 − k единиц, затем k нулей</a:t>
            </a:r>
          </a:p>
        </p:txBody>
      </p:sp>
      <p:sp>
        <p:nvSpPr>
          <p:cNvPr id="14" name="Шаг 4"/>
          <p:cNvSpPr/>
          <p:nvPr/>
        </p:nvSpPr>
        <p:spPr>
          <a:xfrm>
            <a:off x="457200" y="351205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44240"/>
            <a:ext cx="5166359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Чем больше единиц, тем меньше компьютеров: максимальная маска — при наименьшем k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1508760"/>
          <a:ext cx="52422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1600200"/>
                <a:gridCol w="1721815"/>
              </a:tblGrid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Адресов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Компьютеров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Последний байт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C00000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Пример: маска для 30 компьютеров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10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31089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26334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В терминологии сетей TCP/IP маской сети называется двоичное число, определяющее, какая часть IP-адреса узла сети относится к адресу сети, а какая — к адресу самого узла в этой сети. Обычно маска записывается по тем же правилам, что и IP-адрес, — в виде четырёх байтов, причём каждый байт записывается в виде десятичного числа. При этом в маске сначала (в старших разрядах) стоят единицы, а затем с некоторого разряда — нули. Адрес сети получается в результате применения поразрядной конъюнкции к заданным IP-адресу узла и маске.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Например, если IP-адрес узла равен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231.32.255.131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а маска равна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255.255.240.0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то адрес сети равен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231.32.240.0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Костя — начинающий сетевой администратор, он подбирает маску для локальной сети, в которой есть 30 компьютеров. Какой максимальный последний байт маски он может выбрать?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IP-адрес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Аналогия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Широковещательный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Подбор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Расчёт: 30 компьютеров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11 / 36</a:t>
            </a:r>
          </a:p>
        </p:txBody>
      </p:sp>
      <p:sp>
        <p:nvSpPr>
          <p:cNvPr id="8" name="Шаг 1"/>
          <p:cNvSpPr/>
          <p:nvPr/>
        </p:nvSpPr>
        <p:spPr>
          <a:xfrm>
            <a:off x="457200" y="157657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790956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Количество узлов: 30 компьютеров + адрес сети + широковещательный = 32 IP-адреса → под узлы нужно не менее 5 бит (2⁵ = 32)</a:t>
            </a:r>
          </a:p>
        </p:txBody>
      </p:sp>
      <p:sp>
        <p:nvSpPr>
          <p:cNvPr id="10" name="Шаг 2"/>
          <p:cNvSpPr/>
          <p:nvPr/>
        </p:nvSpPr>
        <p:spPr>
          <a:xfrm>
            <a:off x="457200" y="226085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3036"/>
            <a:ext cx="790956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В последнем байте маски остаётся 8 − 5 = 3 бита под единицы (старшие разряды), остальные 5 бит — нули</a:t>
            </a:r>
          </a:p>
        </p:txBody>
      </p:sp>
      <p:sp>
        <p:nvSpPr>
          <p:cNvPr id="12" name="Шаг 3"/>
          <p:cNvSpPr/>
          <p:nvPr/>
        </p:nvSpPr>
        <p:spPr>
          <a:xfrm>
            <a:off x="457200" y="2886455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77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Двоичный вид: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11100000</a:t>
            </a:r>
          </a:p>
        </p:txBody>
      </p:sp>
      <p:sp>
        <p:nvSpPr>
          <p:cNvPr id="14" name="Шаг 4"/>
          <p:cNvSpPr/>
          <p:nvPr/>
        </p:nvSpPr>
        <p:spPr>
          <a:xfrm>
            <a:off x="457200" y="3453383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44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Десятичное значение: 11100000₂ = 224₁₀</a:t>
            </a:r>
          </a:p>
        </p:txBody>
      </p:sp>
      <p:sp>
        <p:nvSpPr>
          <p:cNvPr id="16" name="Шаг 5"/>
          <p:cNvSpPr/>
          <p:nvPr/>
        </p:nvSpPr>
        <p:spPr>
          <a:xfrm>
            <a:off x="457200" y="402031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1116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Полная маска: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255.255.255.224</a:t>
            </a:r>
          </a:p>
        </p:txBody>
      </p:sp>
      <p:sp>
        <p:nvSpPr>
          <p:cNvPr id="18" name="Ответ"/>
          <p:cNvSpPr/>
          <p:nvPr/>
        </p:nvSpPr>
        <p:spPr>
          <a:xfrm>
            <a:off x="9326880" y="1508760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Конъюнкция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Задача про Костю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Байт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Конъюнкция и дизъюнкция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12 / 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3566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371600"/>
              </a:tblGrid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a &amp; b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97680" y="1508760"/>
          <a:ext cx="3566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371600"/>
              </a:tblGrid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a | b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8912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Блок: Смысл для сети"/>
          <p:cNvSpPr/>
          <p:nvPr/>
        </p:nvSpPr>
        <p:spPr>
          <a:xfrm>
            <a:off x="8138160" y="1508760"/>
            <a:ext cx="3596335" cy="21945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Шапка блока: Смысл для сети"/>
          <p:cNvSpPr/>
          <p:nvPr/>
        </p:nvSpPr>
        <p:spPr>
          <a:xfrm>
            <a:off x="8138160" y="1508760"/>
            <a:ext cx="359633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Смысл для 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947672"/>
            <a:ext cx="3504895" cy="17190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AND с маской «вырезает» адрес сети.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OR с инвертированной маской даёт широковещательный.</a:t>
            </a:r>
          </a:p>
        </p:txBody>
      </p:sp>
      <p:sp>
        <p:nvSpPr>
          <p:cNvPr id="13" name="Код"/>
          <p:cNvSpPr/>
          <p:nvPr/>
        </p:nvSpPr>
        <p:spPr>
          <a:xfrm>
            <a:off x="457200" y="3977639"/>
            <a:ext cx="11277295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       187 = 10111011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       240 = 11110000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187 &amp; 240  = 10110000 = 176  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конъюнкция: 1, только где обе единицы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187 | 240  = 11111011 = 251  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дизъюнкция: 1, где есть хотя бы одна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Конъюнкция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Задача про Костю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Байт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Python: побитовые операции и перевод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13 / 36</a:t>
            </a:r>
          </a:p>
        </p:txBody>
      </p:sp>
      <p:sp>
        <p:nvSpPr>
          <p:cNvPr id="8" name="Код"/>
          <p:cNvSpPr/>
          <p:nvPr/>
        </p:nvSpPr>
        <p:spPr>
          <a:xfrm>
            <a:off x="457200" y="1508760"/>
            <a:ext cx="6949440" cy="2834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print(187 &amp; 240)         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176 — конъюнкция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print(187 | 240)         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251 — дизъюнкция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print(f"{187:08b}")      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10111011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print(bin(176))          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0b10110000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print(int("11110000", 2))  </a:t>
            </a:r>
            <a:r>
              <a:rPr sz="1600" b="0" i="0">
                <a:solidFill>
                  <a:srgbClr val="1E7B34"/>
                </a:solidFill>
                <a:latin typeface="Courier New"/>
              </a:rPr>
              <a:t># 240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1508760"/>
          <a:ext cx="396209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24735"/>
              </a:tblGrid>
              <a:tr h="566928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Запись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66928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a &amp; b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AND (конъюнкция)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66928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a |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OR (дизъюнкция)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f"{x:08b}"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8 двоичных цифр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66928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int(s,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из двоичной в десятичную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17720"/>
            <a:ext cx="11277295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Как запустить: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в терминале набрать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python3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вводить строки по одной, или создать файл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n10.py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в PyCharm и нажать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Конъюнкция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Задача про Костю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Байт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Python: модуль ipaddress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14 / 36</a:t>
            </a:r>
          </a:p>
        </p:txBody>
      </p:sp>
      <p:sp>
        <p:nvSpPr>
          <p:cNvPr id="8" name="Код"/>
          <p:cNvSpPr/>
          <p:nvPr/>
        </p:nvSpPr>
        <p:spPr>
          <a:xfrm>
            <a:off x="457200" y="1508760"/>
            <a:ext cx="7589520" cy="3246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from ipaddress import ip_network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net = ip_network("192.168.159.86/255.255.252.0", strict=False)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print(net.network_address)    </a:t>
            </a:r>
            <a:r>
              <a:rPr sz="1400" b="0" i="0">
                <a:solidFill>
                  <a:srgbClr val="1E7B34"/>
                </a:solidFill>
                <a:latin typeface="Courier New"/>
              </a:rPr>
              <a:t># 192.168.156.0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print(net.broadcast_address)  </a:t>
            </a:r>
            <a:r>
              <a:rPr sz="1400" b="0" i="0">
                <a:solidFill>
                  <a:srgbClr val="1E7B34"/>
                </a:solidFill>
                <a:latin typeface="Courier New"/>
              </a:rPr>
              <a:t># 192.168.159.255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print(net.num_addresses)      </a:t>
            </a:r>
            <a:r>
              <a:rPr sz="1400" b="0" i="0">
                <a:solidFill>
                  <a:srgbClr val="1E7B34"/>
                </a:solidFill>
                <a:latin typeface="Courier New"/>
              </a:rPr>
              <a:t># 1024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print(net.prefixlen)          </a:t>
            </a:r>
            <a:r>
              <a:rPr sz="1400" b="0" i="0">
                <a:solidFill>
                  <a:srgbClr val="1E7B34"/>
                </a:solidFill>
                <a:latin typeface="Courier New"/>
              </a:rPr>
              <a:t># 22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print(sum(net.network_address.packed))  </a:t>
            </a:r>
            <a:r>
              <a:rPr sz="1400" b="0" i="0">
                <a:solidFill>
                  <a:srgbClr val="1E7B34"/>
                </a:solidFill>
                <a:latin typeface="Courier New"/>
              </a:rPr>
              <a:t># 516</a:t>
            </a:r>
          </a:p>
        </p:txBody>
      </p:sp>
      <p:sp>
        <p:nvSpPr>
          <p:cNvPr id="9" name="Блок: strict=False"/>
          <p:cNvSpPr/>
          <p:nvPr/>
        </p:nvSpPr>
        <p:spPr>
          <a:xfrm>
            <a:off x="8366760" y="1508760"/>
            <a:ext cx="3367735" cy="17373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Шапка блока: strict=False"/>
          <p:cNvSpPr/>
          <p:nvPr/>
        </p:nvSpPr>
        <p:spPr>
          <a:xfrm>
            <a:off x="8366760" y="1508760"/>
            <a:ext cx="336773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strict=False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47672"/>
            <a:ext cx="3276295" cy="12618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Без него — ошибка ValueError, если адрес узла не совпадает с адресом сети.</a:t>
            </a:r>
          </a:p>
        </p:txBody>
      </p:sp>
      <p:sp>
        <p:nvSpPr>
          <p:cNvPr id="12" name="Блок: .packed"/>
          <p:cNvSpPr/>
          <p:nvPr/>
        </p:nvSpPr>
        <p:spPr>
          <a:xfrm>
            <a:off x="8366760" y="3429000"/>
            <a:ext cx="3367735" cy="132588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Шапка блока: .packed"/>
          <p:cNvSpPr/>
          <p:nvPr/>
        </p:nvSpPr>
        <p:spPr>
          <a:xfrm>
            <a:off x="8366760" y="3429000"/>
            <a:ext cx="336773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.packed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867911"/>
            <a:ext cx="3276295" cy="85039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4 байта адреса; sum(...) — сумма октетов.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11277295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На экзамене решаем вручную, а код — страховка от арифметической ошибки.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Конъюнкция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Задача про Костю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Байт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Задача: побитовая конъюнкция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15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087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33271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Костя — начинающий сетевой администратор, ему только рассказали, что такое побитовая конъюнкция и для чего она нужна. Помоги Косте осуществить побитовую конъюнкцию для чисел 187 и 240. Какое число получится?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0040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486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486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486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Arial"/>
                        </a:rPr>
                        <a:t>187 &amp; 240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00000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00000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00000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  <p:sp>
        <p:nvSpPr>
          <p:cNvPr id="12" name="Ответ"/>
          <p:cNvSpPr/>
          <p:nvPr/>
        </p:nvSpPr>
        <p:spPr>
          <a:xfrm>
            <a:off x="8503920" y="3200400"/>
            <a:ext cx="3230575" cy="219456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Courier New"/>
              </a:rPr>
              <a:t>187 &amp; 240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0" i="0">
                <a:solidFill>
                  <a:srgbClr val="1A1A1A"/>
                </a:solidFill>
                <a:latin typeface="Arial"/>
              </a:rPr>
              <a:t>= </a:t>
            </a:r>
            <a:r>
              <a:rPr sz="4000" b="1" i="0">
                <a:solidFill>
                  <a:srgbClr val="3333B2"/>
                </a:solidFill>
                <a:latin typeface="Arial"/>
              </a:rPr>
              <a:t>176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128 + 32 + 16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Правило: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в результате 1 только там, где 1 стоит в обоих числах.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Конъюнкция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Задача про Костю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Байт маски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Какие значения может принимать байт маски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16 / 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42062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Десятичное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Двоичное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00000000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10000000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11000000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11100000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11110000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C00000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C00000"/>
                          </a:solidFill>
                          <a:latin typeface="Courier New"/>
                        </a:rPr>
                        <a:t>11111000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11111100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11111110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11111111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  <p:sp>
        <p:nvSpPr>
          <p:cNvPr id="9" name="Блок: Почему только они"/>
          <p:cNvSpPr/>
          <p:nvPr/>
        </p:nvSpPr>
        <p:spPr>
          <a:xfrm>
            <a:off x="5029200" y="1508760"/>
            <a:ext cx="6705295" cy="201168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Шапка блока: Почему только они"/>
          <p:cNvSpPr/>
          <p:nvPr/>
        </p:nvSpPr>
        <p:spPr>
          <a:xfrm>
            <a:off x="5029200" y="1508760"/>
            <a:ext cx="6705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Почему только они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947672"/>
            <a:ext cx="6613855" cy="153619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В двоичной записи байт маски — несколько единиц подряд в старших разрядах, после них только нули.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Поэтому у байта маски всего 9 возможных значений.</a:t>
            </a:r>
          </a:p>
        </p:txBody>
      </p:sp>
      <p:sp>
        <p:nvSpPr>
          <p:cNvPr id="12" name="Блок: Вопрос"/>
          <p:cNvSpPr/>
          <p:nvPr/>
        </p:nvSpPr>
        <p:spPr>
          <a:xfrm>
            <a:off x="5029200" y="3749039"/>
            <a:ext cx="6705295" cy="21031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Шапка блока: Вопрос"/>
          <p:cNvSpPr/>
          <p:nvPr/>
        </p:nvSpPr>
        <p:spPr>
          <a:xfrm>
            <a:off x="5029200" y="3749039"/>
            <a:ext cx="6705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Вопрос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187951"/>
            <a:ext cx="6613855" cy="1627631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Байт маски больше 240 и меньше 250. Чему он равен?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Ответ: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248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между 240 и 250 других значений нет.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Алгоритм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Задачи 1–6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Ответы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Алгоритм: адрес сети по IP-адресу узла и маске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17 / 36</a:t>
            </a:r>
          </a:p>
        </p:txBody>
      </p:sp>
      <p:sp>
        <p:nvSpPr>
          <p:cNvPr id="8" name="Шаг 1"/>
          <p:cNvSpPr/>
          <p:nvPr/>
        </p:nvSpPr>
        <p:spPr>
          <a:xfrm>
            <a:off x="457200" y="157657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672084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Помним: 255 = 11111111, поэтому там, где в маске 255, октет адреса сети повторяет октет адреса узла</a:t>
            </a:r>
          </a:p>
        </p:txBody>
      </p:sp>
      <p:sp>
        <p:nvSpPr>
          <p:cNvPr id="10" name="Шаг 2"/>
          <p:cNvSpPr/>
          <p:nvPr/>
        </p:nvSpPr>
        <p:spPr>
          <a:xfrm>
            <a:off x="457200" y="22021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3036"/>
            <a:ext cx="672084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Смотрим, в каком байте маска меньше 255</a:t>
            </a:r>
          </a:p>
        </p:txBody>
      </p:sp>
      <p:sp>
        <p:nvSpPr>
          <p:cNvPr id="12" name="Шаг 3"/>
          <p:cNvSpPr/>
          <p:nvPr/>
        </p:nvSpPr>
        <p:spPr>
          <a:xfrm>
            <a:off x="457200" y="282778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59964"/>
            <a:ext cx="672084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Выполняем конъюнкцию этого байта с тем же по счёту байтом адреса узла (в Python: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</a:t>
            </a:r>
          </a:p>
        </p:txBody>
      </p:sp>
      <p:sp>
        <p:nvSpPr>
          <p:cNvPr id="14" name="Шаг 4"/>
          <p:cNvSpPr/>
          <p:nvPr/>
        </p:nvSpPr>
        <p:spPr>
          <a:xfrm>
            <a:off x="457200" y="3453383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44240"/>
            <a:ext cx="672084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Там, где у маски 0, у адреса сети тоже 0</a:t>
            </a:r>
          </a:p>
        </p:txBody>
      </p:sp>
      <p:sp>
        <p:nvSpPr>
          <p:cNvPr id="16" name="Блок: Пример"/>
          <p:cNvSpPr/>
          <p:nvPr/>
        </p:nvSpPr>
        <p:spPr>
          <a:xfrm>
            <a:off x="8138160" y="1508760"/>
            <a:ext cx="3596335" cy="30175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Шапка блока: Пример"/>
          <p:cNvSpPr/>
          <p:nvPr/>
        </p:nvSpPr>
        <p:spPr>
          <a:xfrm>
            <a:off x="8138160" y="1508760"/>
            <a:ext cx="359633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Пример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47672"/>
            <a:ext cx="3504895" cy="25420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231.32.255.131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255.255.240.0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октет: 255 &amp; 240 = 240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Адрес сети: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231.32.240.0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Алгоритм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Задачи 1–6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Ответы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Быстрый приём для граничного октета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18 / 36</a:t>
            </a:r>
          </a:p>
        </p:txBody>
      </p:sp>
      <p:sp>
        <p:nvSpPr>
          <p:cNvPr id="8" name="Блок: Октет маски 255"/>
          <p:cNvSpPr/>
          <p:nvPr/>
        </p:nvSpPr>
        <p:spPr>
          <a:xfrm>
            <a:off x="457200" y="15087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Октет маски 255"/>
          <p:cNvSpPr/>
          <p:nvPr/>
        </p:nvSpPr>
        <p:spPr>
          <a:xfrm>
            <a:off x="457200" y="1508760"/>
            <a:ext cx="356616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Октет маски 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3474720" cy="8961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октет IP переписываем</a:t>
            </a:r>
          </a:p>
        </p:txBody>
      </p:sp>
      <p:sp>
        <p:nvSpPr>
          <p:cNvPr id="11" name="Блок: Октет маски 0"/>
          <p:cNvSpPr/>
          <p:nvPr/>
        </p:nvSpPr>
        <p:spPr>
          <a:xfrm>
            <a:off x="4315968" y="15087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Октет маски 0"/>
          <p:cNvSpPr/>
          <p:nvPr/>
        </p:nvSpPr>
        <p:spPr>
          <a:xfrm>
            <a:off x="4315968" y="1508760"/>
            <a:ext cx="356616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Октет маски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47672"/>
            <a:ext cx="3474720" cy="8961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в адрес сети пишем 0</a:t>
            </a:r>
          </a:p>
        </p:txBody>
      </p:sp>
      <p:sp>
        <p:nvSpPr>
          <p:cNvPr id="14" name="Блок: Граничный октет m"/>
          <p:cNvSpPr/>
          <p:nvPr/>
        </p:nvSpPr>
        <p:spPr>
          <a:xfrm>
            <a:off x="8174736" y="15087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Граничный октет m"/>
          <p:cNvSpPr/>
          <p:nvPr/>
        </p:nvSpPr>
        <p:spPr>
          <a:xfrm>
            <a:off x="8174736" y="1508760"/>
            <a:ext cx="356616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Граничный октет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947672"/>
            <a:ext cx="3474720" cy="8961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блок = 256 − m</a:t>
            </a:r>
          </a:p>
        </p:txBody>
      </p:sp>
      <p:sp>
        <p:nvSpPr>
          <p:cNvPr id="17" name="Блок: Правило"/>
          <p:cNvSpPr/>
          <p:nvPr/>
        </p:nvSpPr>
        <p:spPr>
          <a:xfrm>
            <a:off x="457200" y="3154680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Шапка блока: Правило"/>
          <p:cNvSpPr/>
          <p:nvPr/>
        </p:nvSpPr>
        <p:spPr>
          <a:xfrm>
            <a:off x="457200" y="315468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Правило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93592"/>
            <a:ext cx="11185855" cy="8046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Октет адреса сети = наибольшее кратное блока, не превосходящее октета IP.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Октет широковещательного = октет сети + блок − 1.</a:t>
            </a:r>
          </a:p>
        </p:txBody>
      </p:sp>
      <p:sp>
        <p:nvSpPr>
          <p:cNvPr id="20" name="Код"/>
          <p:cNvSpPr/>
          <p:nvPr/>
        </p:nvSpPr>
        <p:spPr>
          <a:xfrm>
            <a:off x="457200" y="4663440"/>
            <a:ext cx="11277295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IP 159, маска 252:  блок = 256 − 252 =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159 = 4 · 39 + 3  →  сеть 156,  широковещательный 156 + 4 − 1 = 159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Алгоритм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Задачи 1–6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Ответы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Задачи 1–6 для самостоятельного решения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19 / 36</a:t>
            </a:r>
          </a:p>
        </p:txBody>
      </p:sp>
      <p:sp>
        <p:nvSpPr>
          <p:cNvPr id="8" name="Блок: Условие для всех задач"/>
          <p:cNvSpPr/>
          <p:nvPr/>
        </p:nvSpPr>
        <p:spPr>
          <a:xfrm>
            <a:off x="457200" y="1508760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Условие для всех задач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Условие для всех задач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046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и сетевой маской. Найдите IP-адрес сети. В ответе укажите сумму числовых значений октетов найденного IP-адреса (100.20.3.4 → 127).</a:t>
            </a:r>
          </a:p>
        </p:txBody>
      </p:sp>
      <p:sp>
        <p:nvSpPr>
          <p:cNvPr id="11" name="Блок: Задача 1"/>
          <p:cNvSpPr/>
          <p:nvPr/>
        </p:nvSpPr>
        <p:spPr>
          <a:xfrm>
            <a:off x="457200" y="29718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Задача 1"/>
          <p:cNvSpPr/>
          <p:nvPr/>
        </p:nvSpPr>
        <p:spPr>
          <a:xfrm>
            <a:off x="457200" y="2971800"/>
            <a:ext cx="3566160" cy="34747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74136"/>
            <a:ext cx="3474720" cy="978407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узел 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168.24.71.19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маска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255.255.252.0</a:t>
            </a:r>
          </a:p>
        </p:txBody>
      </p:sp>
      <p:sp>
        <p:nvSpPr>
          <p:cNvPr id="14" name="Блок: Задача 2"/>
          <p:cNvSpPr/>
          <p:nvPr/>
        </p:nvSpPr>
        <p:spPr>
          <a:xfrm>
            <a:off x="4315968" y="29718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Задача 2"/>
          <p:cNvSpPr/>
          <p:nvPr/>
        </p:nvSpPr>
        <p:spPr>
          <a:xfrm>
            <a:off x="4315968" y="2971800"/>
            <a:ext cx="3566160" cy="34747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3374136"/>
            <a:ext cx="3474720" cy="978407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узел 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95.106.135.150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маска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255.255.255.0</a:t>
            </a:r>
          </a:p>
        </p:txBody>
      </p:sp>
      <p:sp>
        <p:nvSpPr>
          <p:cNvPr id="17" name="Блок: Задача 3"/>
          <p:cNvSpPr/>
          <p:nvPr/>
        </p:nvSpPr>
        <p:spPr>
          <a:xfrm>
            <a:off x="8174736" y="29718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Шапка блока: Задача 3"/>
          <p:cNvSpPr/>
          <p:nvPr/>
        </p:nvSpPr>
        <p:spPr>
          <a:xfrm>
            <a:off x="8174736" y="2971800"/>
            <a:ext cx="3566160" cy="34747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374136"/>
            <a:ext cx="3474720" cy="978407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узел 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189.163.226.71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маска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255.255.255.240</a:t>
            </a:r>
          </a:p>
        </p:txBody>
      </p:sp>
      <p:sp>
        <p:nvSpPr>
          <p:cNvPr id="20" name="Блок: Задача 4"/>
          <p:cNvSpPr/>
          <p:nvPr/>
        </p:nvSpPr>
        <p:spPr>
          <a:xfrm>
            <a:off x="457200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Шапка блока: Задача 4"/>
          <p:cNvSpPr/>
          <p:nvPr/>
        </p:nvSpPr>
        <p:spPr>
          <a:xfrm>
            <a:off x="457200" y="4572000"/>
            <a:ext cx="3566160" cy="34747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74336"/>
            <a:ext cx="3474720" cy="978407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узел 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121.51.134.115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маска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255.248.0.0</a:t>
            </a:r>
          </a:p>
        </p:txBody>
      </p:sp>
      <p:sp>
        <p:nvSpPr>
          <p:cNvPr id="23" name="Блок: Задача 5"/>
          <p:cNvSpPr/>
          <p:nvPr/>
        </p:nvSpPr>
        <p:spPr>
          <a:xfrm>
            <a:off x="4315968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Шапка блока: Задача 5"/>
          <p:cNvSpPr/>
          <p:nvPr/>
        </p:nvSpPr>
        <p:spPr>
          <a:xfrm>
            <a:off x="4315968" y="4572000"/>
            <a:ext cx="3566160" cy="34747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974336"/>
            <a:ext cx="3474720" cy="978407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узел 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75.109.133.149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маска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255.192.0.0</a:t>
            </a:r>
          </a:p>
        </p:txBody>
      </p:sp>
      <p:sp>
        <p:nvSpPr>
          <p:cNvPr id="26" name="Блок: Задача 6"/>
          <p:cNvSpPr/>
          <p:nvPr/>
        </p:nvSpPr>
        <p:spPr>
          <a:xfrm>
            <a:off x="8174736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Шапка блока: Задача 6"/>
          <p:cNvSpPr/>
          <p:nvPr/>
        </p:nvSpPr>
        <p:spPr>
          <a:xfrm>
            <a:off x="8174736" y="4572000"/>
            <a:ext cx="3566160" cy="34747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974336"/>
            <a:ext cx="3474720" cy="978407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узел 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192.168.159.86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маска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255.255.252.0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Алгоритм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Задачи 1–6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Ответы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Ответы и решения: задачи 1–6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20 / 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72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2194560"/>
                <a:gridCol w="2560320"/>
                <a:gridCol w="2377440"/>
                <a:gridCol w="1401775"/>
              </a:tblGrid>
              <a:tr h="574765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Узел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Маска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Граничный октет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Адрес сети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Ответ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74765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168.24.71.19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255.255.252.0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71 &amp; 252 = 68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168.24.68.0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3333B2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74765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95.106.135.150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255.255.255.0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4-й октет маски 0 →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95.106.135.0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3333B2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189.163.226.71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255.255.255.240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71 &amp; 240 = 64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189.163.226.64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3333B2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74765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121.51.134.115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255.248.0.0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51 &amp; 248 = 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121.48.0.0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3333B2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75.109.133.149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255.192.0.0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109 &amp; 192 = 64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75.64.0.0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3333B2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7477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192.168.159.86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255.255.252.0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159 &amp; 252 = 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192.168.156.0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3333B2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Алгоритм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Задачи 1–6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Ответы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Разбор задачи 6 (демоверсия ЕГЭ 2027)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21 / 36</a:t>
            </a:r>
          </a:p>
        </p:txBody>
      </p:sp>
      <p:sp>
        <p:nvSpPr>
          <p:cNvPr id="8" name="Блок: Условие"/>
          <p:cNvSpPr/>
          <p:nvPr/>
        </p:nvSpPr>
        <p:spPr>
          <a:xfrm>
            <a:off x="457200" y="1508760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Условие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Условие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046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Даны адрес узла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192.168.159.86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маска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255.255.252.0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адрес сети. В ответе укажите сумму числовых значений октетов найденного IP-адреса.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026663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752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Октеты маски 255, 255 → первые два октета без изменений: 192.168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593591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444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третий октет: 159 &amp; 252 = 156  (блок 4: 159 = 4 · 39 + 3)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16052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137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Октет маски 0 → четвёртый октет 0. Адрес сети: 192.168.156.0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1830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Сумма октетов: 192 + 168 + 156 + 0 = 516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017520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516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Маска по адресу узла и адресу сети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22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282192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06704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Для узла с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172.17.67.127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адрес сети равен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172.17.64.0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Чему равно наибольшее возможное значение третьего слева байта маски? Ответ запишите в виде десятичного числа.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08737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9552"/>
            <a:ext cx="790956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Переводим в двоичную октет, где адреса различаются: 67 = 01000011, 64 = 01000000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712971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0382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Единица в разряде 64 осталась → маска её сохраняет: байт ≥ 192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33857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70756"/>
            <a:ext cx="790956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Единицы в разрядах 2 и 1 исчезли → маска их обнуляет: байт ≤ 11111100 = 252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6417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503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Подходят 192, 224, 240, 248, 252 → наибольшее 252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019552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Подсчёт адресов: нечётное число единиц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23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192.168.40.128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маской сети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255.255.255.240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Сколько в этой сети IP-адресов, для которых сумма единиц в двоичной записи IP-адреса нечётна? В ответе укажите только число.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3197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Маска оканчивается на 4 нуля (…11110000): 2⁴ = 16 адресов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97306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0743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Неизменная часть 192.168.40.128: единиц 2 + 3 + 2 + 1 = 8 — чётно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6263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4031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Сумма нечётна, когда в 4 младших битах нечётное число единиц: C(4,1) + C(4,3) = 4 + 4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5236463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27319"/>
            <a:ext cx="525780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Ровно половина адресов: 8</a:t>
            </a:r>
          </a:p>
        </p:txBody>
      </p:sp>
      <p:sp>
        <p:nvSpPr>
          <p:cNvPr id="19" name="Код"/>
          <p:cNvSpPr/>
          <p:nvPr/>
        </p:nvSpPr>
        <p:spPr>
          <a:xfrm>
            <a:off x="6537960" y="3267456"/>
            <a:ext cx="5196535" cy="306019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from ipaddress import ip_network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net = ip_network("192.168.40.128/255.255.255.240",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strict=False)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cnt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for ip in net: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if bin(int(ip)).count("1") % 2 == 1: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cnt +=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print(cnt)  </a:t>
            </a:r>
            <a:r>
              <a:rPr sz="1200" b="0" i="0">
                <a:solidFill>
                  <a:srgbClr val="1E7B34"/>
                </a:solidFill>
                <a:latin typeface="Courier New"/>
              </a:rPr>
              <a:t># 8</a:t>
            </a:r>
          </a:p>
        </p:txBody>
      </p:sp>
      <p:sp>
        <p:nvSpPr>
          <p:cNvPr id="20" name="Ответ"/>
          <p:cNvSpPr/>
          <p:nvPr/>
        </p:nvSpPr>
        <p:spPr>
          <a:xfrm>
            <a:off x="457200" y="5687568"/>
            <a:ext cx="5852160" cy="640080"/>
          </a:xfrm>
          <a:prstGeom prst="roundRect">
            <a:avLst>
              <a:gd name="adj" fmla="val 2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Ответ: </a:t>
            </a:r>
            <a:r>
              <a:rPr sz="2600" b="1" i="0">
                <a:solidFill>
                  <a:srgbClr val="3333B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Наименьшее количество нулей в маске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24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282192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06704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Для узла с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111.91.200.28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адрес сети равен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111.91.192.0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наименьшее возможное количество нулей в двоичной записи маски подсети.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02869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955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Различается третий октет: 200 = 11001000, 192 = 11000000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59562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648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Единица в разряде 8 исчезла → байт маски ≤ 11110000 = 240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16255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340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Нулей меньше всего, когда единиц больше всего: маска 255.255.240.0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7294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2033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 8 + 8 + 4 = 20 → нулей 32 − 20 = 12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019552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третий байт маски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25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282192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06704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Для узла с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215.181.200.27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адрес сети равен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215.181.192.0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Чему равно наибольшее возможное значение третьего слева байта маски? Ответ запишите в виде десятичного числа.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02869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955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Третий октет: 200 = 11001000, в адресе сети 192 = 11000000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59562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648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Единицы 128 и 64 остались → байт маски ≥ 192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16255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340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Единица в разряде 8 исчезла → байт маски ≤ 11110000 = 240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7294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2033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Подходят 192, 224, 240 → наибольшее 240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019552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Подсчёт адресов: единиц не кратно 4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26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122.159.136.144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255.255.255.248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Сколько в этой сети IP-адресов, для которых количество единиц в двоичной записи IP-адреса не кратно 4? В ответе укажите только число.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3197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Маска …11111000: 3 бита узла → 8 адресов (144–151)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97306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0743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Неизменная часть: 122 (5) + 159 (6) + 136 (2) + 10010 (2) = 15 единиц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6263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4031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Всего единиц от 15 до 18; кратно 4 только 16 — одна единица из трёх битов: C(3,1) = 3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5236463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27319"/>
            <a:ext cx="525780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Не кратно 4: 8 − 3 = 5</a:t>
            </a:r>
          </a:p>
        </p:txBody>
      </p:sp>
      <p:sp>
        <p:nvSpPr>
          <p:cNvPr id="19" name="Код"/>
          <p:cNvSpPr/>
          <p:nvPr/>
        </p:nvSpPr>
        <p:spPr>
          <a:xfrm>
            <a:off x="6537960" y="3267456"/>
            <a:ext cx="5196535" cy="306019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from ipaddress import ip_network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net = ip_network("122.159.136.144/255.255.255.248",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strict=False)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cnt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for ip in net: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if bin(int(ip)).count("1") % 4 != 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cnt +=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print(cnt)  </a:t>
            </a:r>
            <a:r>
              <a:rPr sz="1200" b="0" i="0">
                <a:solidFill>
                  <a:srgbClr val="1E7B34"/>
                </a:solidFill>
                <a:latin typeface="Courier New"/>
              </a:rPr>
              <a:t># 5</a:t>
            </a:r>
          </a:p>
        </p:txBody>
      </p:sp>
      <p:sp>
        <p:nvSpPr>
          <p:cNvPr id="20" name="Ответ"/>
          <p:cNvSpPr/>
          <p:nvPr/>
        </p:nvSpPr>
        <p:spPr>
          <a:xfrm>
            <a:off x="457200" y="5687568"/>
            <a:ext cx="5852160" cy="640080"/>
          </a:xfrm>
          <a:prstGeom prst="roundRect">
            <a:avLst>
              <a:gd name="adj" fmla="val 2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Ответ: </a:t>
            </a:r>
            <a:r>
              <a:rPr sz="2600" b="1" i="0">
                <a:solidFill>
                  <a:srgbClr val="3333B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сумма октетов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27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146.180.173.153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255.192.0.0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Определите наибольший IP-адрес данной сети, который может быть присвоен компьютеру. В ответе укажите сумму числовых значений октетов найденного IP-адреса (111.22.3.44 → 180).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второй октет маски 192: блок 256 − 192 = 64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180 → 128 (наибольшее кратное 64). Сеть: 146.128.0.0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128 + 64 − 1 = 191 → 146.191.255.255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Компьютер: 146.191.255.254 → 146 + 191 + 255 + 254 = 846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846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Наименьший последний байт маски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28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Для узла с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111.81.27.208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адрес сети равен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111.81.27.192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Чему равно наименьшее возможное значение последнего (самого правого) байта маски? Ответ запишите в виде десятичного числа.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Последний октет: 208 = 11010000, в адресе сети 192 = 11000000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Единицы 128 и 64 остались → байт маски ≥ 11000000 = 192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Единица в разряде 16 исчезла → байт маски ≤ 11100000 = 224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Подходят 192 и 224 → наименьшее 192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без разделителей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29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191.128.66.83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255.192.0.0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в данной сети наибольший IP-адрес, который может быть назначен компьютеру. В ответе укажите найденный IP-адрес без разделителей (111.22.3.44 → 11122344).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второй октет маски 192: блок 64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128 → 128. Сеть: 191.128.0.0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128 + 64 − 1 = 191 → 191.191.255.255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Компьютер: 191.191.255.254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333B2"/>
                </a:solidFill>
                <a:latin typeface="Arial"/>
              </a:rPr>
              <a:t>191191255254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формат 2026; в 2027 — сумма октетов: 891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Подсчёт адресов: единиц не кратно 5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30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172.16.168.0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маской сети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255.255.248.0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Сколько в этой сети IP-адресов, для которых количество единиц в двоичной записи IP-адреса не кратно 5? В ответе укажите только число.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3197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Маска 255.255.248.0: 11 бит узла → 2¹¹ = 2048 адресов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97306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0743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Неизменная часть: 172 (4) + 16 (1) + 10101 (3) = 8 единиц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6263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4031"/>
            <a:ext cx="5257800" cy="543559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Кратно 5, если 8 + k = 10 или 15: k = 2 или 7 → C(11,2) + C(11,7) = 55 + 330 = 385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5236463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27319"/>
            <a:ext cx="525780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Не кратно 5: 2048 − 385 = 1663</a:t>
            </a:r>
          </a:p>
        </p:txBody>
      </p:sp>
      <p:sp>
        <p:nvSpPr>
          <p:cNvPr id="19" name="Код"/>
          <p:cNvSpPr/>
          <p:nvPr/>
        </p:nvSpPr>
        <p:spPr>
          <a:xfrm>
            <a:off x="6537960" y="3267456"/>
            <a:ext cx="5196535" cy="306019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from ipaddress import ip_network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net = ip_network("172.16.168.0/255.255.248.0",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strict=False)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cnt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for ip in net: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if bin(int(ip)).count("1") % 5 != 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cnt +=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print(cnt)  </a:t>
            </a:r>
            <a:r>
              <a:rPr sz="1200" b="0" i="0">
                <a:solidFill>
                  <a:srgbClr val="1E7B34"/>
                </a:solidFill>
                <a:latin typeface="Courier New"/>
              </a:rPr>
              <a:t># 1663</a:t>
            </a:r>
          </a:p>
        </p:txBody>
      </p:sp>
      <p:sp>
        <p:nvSpPr>
          <p:cNvPr id="20" name="Ответ"/>
          <p:cNvSpPr/>
          <p:nvPr/>
        </p:nvSpPr>
        <p:spPr>
          <a:xfrm>
            <a:off x="457200" y="5687568"/>
            <a:ext cx="5852160" cy="640080"/>
          </a:xfrm>
          <a:prstGeom prst="roundRect">
            <a:avLst>
              <a:gd name="adj" fmla="val 2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Ответ: </a:t>
            </a:r>
            <a:r>
              <a:rPr sz="2600" b="1" i="0">
                <a:solidFill>
                  <a:srgbClr val="3333B2"/>
                </a:solidFill>
                <a:latin typeface="Arial"/>
              </a:rPr>
              <a:t>1663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Наименьшее количество нулей в маске (2)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31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282192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06704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Для узла с IP-адресом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117.73.208.27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адрес сети равен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117.73.192.0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Каково наименьшее возможное количество нулей в разрядах маски?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02869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955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Различается третий октет: 208 = 11010000, 192 = 11000000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59562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648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Единица в разряде 16 исчезла → байт маски ≤ 11100000 = 224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16255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340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Нулей меньше всего при маске 255.255.224.0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729480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2033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Единиц 8 + 8 + 3 = 19 → нулей 32 − 19 = 13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019552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маска /24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32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102.162.200.51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255.255.255.0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в данной сети наибольший IP-адрес, который может быть назначен компьютеру. В ответе укажите сумму числовых значений октетов найденного IP-адреса (100.20.3.4 → 127).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33527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Маска 255.255.255.0: первые три октета сохраняются. Сеть: 102.162.200.0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960875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51731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102.162.200.255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52780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1866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Компьютер: 102.162.200.254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509473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85588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Сумма: 102 + 162 + 200 + 254 = 718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718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без разделителей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33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73.148.145.65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255.224.0.0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наибольший в данной сети IP-адрес, который может быть назначен компьютеру. В ответе укажите найденный IP-адрес без разделителей (111.22.3.44 → 11122344).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второй октет маски: блок 256 − 224 = 32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148 → 128 (наибольшее кратное 32)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128 + 32 − 1 = 159, дальше 255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 (широковещательный − 1): 73.159.255.254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73159255254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формат 2026; в 2027 — сумма октетов: 741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без разделителей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34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205.99.68.249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255.255.248.0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наибольший в данной сети IP-адрес, который может быть назначен компьютеру. В ответе укажите найденный IP-адрес без разделителей (111.22.3.44 → 11122344).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третий октет маски: блок 256 − 248 = 8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68 → 64 (наибольшее кратное 8)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64 + 8 − 1 = 71, дальше 255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 (широковещательный − 1): 205.99.71.254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3333B2"/>
                </a:solidFill>
                <a:latin typeface="Arial"/>
              </a:rPr>
              <a:t>2059971254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формат 2026; в 2027 — сумма октетов: 629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без разделителей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35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45.172.106.203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255.255.252.0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наибольший в данной сети IP-адрес, который может быть назначен компьютеру. В ответе укажите найденный IP-адрес без разделителей (111.22.3.44 → 11122344).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третий октет маски: блок 256 − 252 = 4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106 → 104 (наибольшее кратное 4)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104 + 4 − 1 = 107, дальше 255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 (широковещательный − 1): 45.172.107.254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45172107254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формат 2026; в 2027 — сумма октетов: 578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Побитовые операции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Адрес сети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Разбор задач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Маска по адресу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Подсчёт адресов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Наибольший адрес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Наибольший адрес компьютера: без разделителей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№10. IP-адресация и маска подсети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36 / 36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530096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5460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Сеть задана IP-адресом одного из входящих в неё узлов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98.81.154.195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сетевой маской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255.252.0.0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наибольший в данной сети IP-адрес, который может быть назначен компьютеру. В ответе укажите найденный IP-адрес без разделителей (111.22.3.44 → 11122344).</a:t>
            </a:r>
          </a:p>
        </p:txBody>
      </p:sp>
      <p:sp>
        <p:nvSpPr>
          <p:cNvPr id="11" name="Шаг 1"/>
          <p:cNvSpPr/>
          <p:nvPr/>
        </p:nvSpPr>
        <p:spPr>
          <a:xfrm>
            <a:off x="457200" y="327659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7456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Граничный второй октет маски: блок 256 − 252 = 4</a:t>
            </a:r>
          </a:p>
        </p:txBody>
      </p:sp>
      <p:sp>
        <p:nvSpPr>
          <p:cNvPr id="13" name="Шаг 2"/>
          <p:cNvSpPr/>
          <p:nvPr/>
        </p:nvSpPr>
        <p:spPr>
          <a:xfrm>
            <a:off x="457200" y="38435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4384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81 → 80 (наибольшее кратное 4)</a:t>
            </a:r>
          </a:p>
        </p:txBody>
      </p:sp>
      <p:sp>
        <p:nvSpPr>
          <p:cNvPr id="15" name="Шаг 3"/>
          <p:cNvSpPr/>
          <p:nvPr/>
        </p:nvSpPr>
        <p:spPr>
          <a:xfrm>
            <a:off x="457200" y="44104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1312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Широковещательный: 80 + 4 − 1 = 83, дальше 255</a:t>
            </a:r>
          </a:p>
        </p:txBody>
      </p:sp>
      <p:sp>
        <p:nvSpPr>
          <p:cNvPr id="17" name="Шаг 4"/>
          <p:cNvSpPr/>
          <p:nvPr/>
        </p:nvSpPr>
        <p:spPr>
          <a:xfrm>
            <a:off x="457200" y="497738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68240"/>
            <a:ext cx="790956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Компьютер (широковещательный − 1): 98.83.255.254</a:t>
            </a:r>
          </a:p>
        </p:txBody>
      </p:sp>
      <p:sp>
        <p:nvSpPr>
          <p:cNvPr id="19" name="Ответ"/>
          <p:cNvSpPr/>
          <p:nvPr/>
        </p:nvSpPr>
        <p:spPr>
          <a:xfrm>
            <a:off x="9326880" y="3267456"/>
            <a:ext cx="2407615" cy="237744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3333B2"/>
                </a:solidFill>
                <a:latin typeface="Arial"/>
              </a:rPr>
              <a:t>9883255254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формат 2026; в 2027 — сумма октетов: 690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