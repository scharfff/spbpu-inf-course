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Пара 3 часа. 0:00 разминка, 0:10 теория, 0:50 четыре типа задач, 1:20 перерыв, 1:30 Python, 1:50 практика, 2:45 итоги и ДЗ.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В 2027 году №4 не меняется. Решается на бумаге за 2 минуты, если уверенно строить дерево.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Дать 2 минуты. Ученики находят два прочтения сами. Вывод: коду нужно правило, иначе сообщение не расшифровать.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Учебник, глава №4, разделы 1.1–1.2.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2.1. Код с прямым условием Фано называют префиксным.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Разделы 2.2–2.3 учебника: тот же пример А=1, Б=10, В=100 и код 0, 01, 110 как пример однозначного кода без условия Фано.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3.1–3.2. Строить дерево — главный приём №4.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Определение из исправленного раздела 4.2. Пример: А=1, Б=010, В=000.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5 учебника.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4.1. Пример учебника (Н=0, К=10, ответ 14) совпадает с вариантом 1 ДЗ, поэтому здесь другая задача.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4.2. Проверяем вершины по уровням: сначала длина 1, потом 2, потом 3.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4.3. Главное — частота букв в слове. Самой частой букве — самый короткий код.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4.4. Префиксный код читаем слева направо без возвратов.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6 учебника + ловушки из подборки.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Раздел 7 учебника. На экзамене №4 решаем руками, Python — для самопроверки.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Перебор всех слов по длине: первое подходящее — кратчайший код с наименьшим числовым значением.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35–40 минут. Каждую задачу — через дерево.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15 минут. Используйте функции со слайдов 15–16.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Все ответы проверены перебором тремя независимыми программами.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Последние 15 минут.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5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 / 20</a:t>
            </a:r>
          </a:p>
        </p:txBody>
      </p:sp>
      <p:sp>
        <p:nvSpPr>
          <p:cNvPr id="7" name="Титул"/>
          <p:cNvSpPr/>
          <p:nvPr/>
        </p:nvSpPr>
        <p:spPr>
          <a:xfrm>
            <a:off x="2011680" y="1417320"/>
            <a:ext cx="8168335" cy="1737360"/>
          </a:xfrm>
          <a:prstGeom prst="roundRect">
            <a:avLst>
              <a:gd name="adj" fmla="val 12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Условие Фано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Задание №4. ЕГЭ по информатике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66160"/>
            <a:ext cx="8168335" cy="2194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Шарф Лилия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Подготовительные курсы СПбПУ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Задание №4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Разминка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Задание №4 в ЕГЭ 2027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 / 20</a:t>
            </a:r>
          </a:p>
        </p:txBody>
      </p:sp>
      <p:sp>
        <p:nvSpPr>
          <p:cNvPr id="8" name="Число: базовый уровень"/>
          <p:cNvSpPr/>
          <p:nvPr/>
        </p:nvSpPr>
        <p:spPr>
          <a:xfrm>
            <a:off x="457200" y="150876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базовый уровень</a:t>
            </a:r>
          </a:p>
        </p:txBody>
      </p:sp>
      <p:sp>
        <p:nvSpPr>
          <p:cNvPr id="11" name="Число: первичный балл"/>
          <p:cNvSpPr/>
          <p:nvPr/>
        </p:nvSpPr>
        <p:spPr>
          <a:xfrm>
            <a:off x="457200" y="27432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79776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первичный балл</a:t>
            </a:r>
          </a:p>
        </p:txBody>
      </p:sp>
      <p:sp>
        <p:nvSpPr>
          <p:cNvPr id="14" name="Число: минуты на задание"/>
          <p:cNvSpPr/>
          <p:nvPr/>
        </p:nvSpPr>
        <p:spPr>
          <a:xfrm>
            <a:off x="457200" y="3977639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5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7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минуты на задание</a:t>
            </a:r>
          </a:p>
        </p:txBody>
      </p:sp>
      <p:sp>
        <p:nvSpPr>
          <p:cNvPr id="17" name="Число: решили в 2026"/>
          <p:cNvSpPr/>
          <p:nvPr/>
        </p:nvSpPr>
        <p:spPr>
          <a:xfrm>
            <a:off x="457200" y="5212079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48655"/>
            <a:ext cx="2103120" cy="64008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71,5 %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70447"/>
            <a:ext cx="2103120" cy="3840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решили в 2026</a:t>
            </a:r>
          </a:p>
        </p:txBody>
      </p:sp>
      <p:sp>
        <p:nvSpPr>
          <p:cNvPr id="20" name="Блок: Что проверяют"/>
          <p:cNvSpPr/>
          <p:nvPr/>
        </p:nvSpPr>
        <p:spPr>
          <a:xfrm>
            <a:off x="2834640" y="1508760"/>
            <a:ext cx="8899855" cy="16002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Шапка блока: Что проверяют"/>
          <p:cNvSpPr/>
          <p:nvPr/>
        </p:nvSpPr>
        <p:spPr>
          <a:xfrm>
            <a:off x="2834640" y="1508760"/>
            <a:ext cx="889985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Что проверяют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947672"/>
            <a:ext cx="8808415" cy="11247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Умение кодировать и декодировать информацию: неравномерный двоичный код и условие Фано.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В 2027 году задание не изменилось. Компьютер не нужен.</a:t>
            </a:r>
          </a:p>
        </p:txBody>
      </p:sp>
      <p:sp>
        <p:nvSpPr>
          <p:cNvPr id="23" name="Блок: Четыре вопроса, которые встречаются"/>
          <p:cNvSpPr/>
          <p:nvPr/>
        </p:nvSpPr>
        <p:spPr>
          <a:xfrm>
            <a:off x="2834640" y="3337560"/>
            <a:ext cx="8899855" cy="25146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Шапка блока: Четыре вопроса, которые встречаются"/>
          <p:cNvSpPr/>
          <p:nvPr/>
        </p:nvSpPr>
        <p:spPr>
          <a:xfrm>
            <a:off x="2834640" y="3337560"/>
            <a:ext cx="889985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Четыре вопроса, которые встречаются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776472"/>
            <a:ext cx="8808415" cy="20391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1.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Наименьшая суммарная длина всех кодовых слов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2.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Кратчайшее кодовое слово для буквы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3.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Сколько двоичных знаков займёт слово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4.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Расшифровать сообщение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6007608"/>
            <a:ext cx="8899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Спецификация ФИПИ 2027; процент решивших — методические рекомендации ФИПИ по итогам ЕГЭ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Задание №4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Разминка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Разминка: одно сообщение — два прочтения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3 / 20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3716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8961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Буквы закодированы так: </a:t>
            </a:r>
            <a:r>
              <a:rPr sz="1700" b="0" i="0">
                <a:solidFill>
                  <a:srgbClr val="1A1A1A"/>
                </a:solidFill>
                <a:latin typeface="Courier New"/>
              </a:rPr>
              <a:t>А — 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 </a:t>
            </a:r>
            <a:r>
              <a:rPr sz="1700" b="0" i="0">
                <a:solidFill>
                  <a:srgbClr val="1A1A1A"/>
                </a:solidFill>
                <a:latin typeface="Courier New"/>
              </a:rPr>
              <a:t>Б — 01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 </a:t>
            </a:r>
            <a:r>
              <a:rPr sz="1700" b="0" i="0">
                <a:solidFill>
                  <a:srgbClr val="1A1A1A"/>
                </a:solidFill>
                <a:latin typeface="Courier New"/>
              </a:rPr>
              <a:t>В — 10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 Пришло сообщение </a:t>
            </a:r>
            <a:r>
              <a:rPr sz="1700" b="0" i="0">
                <a:solidFill>
                  <a:srgbClr val="1A1A1A"/>
                </a:solidFill>
                <a:latin typeface="Courier New"/>
              </a:rPr>
              <a:t>010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 Что в нём написано?</a:t>
            </a:r>
          </a:p>
        </p:txBody>
      </p:sp>
      <p:sp>
        <p:nvSpPr>
          <p:cNvPr id="11" name="Кусок 0"/>
          <p:cNvSpPr/>
          <p:nvPr/>
        </p:nvSpPr>
        <p:spPr>
          <a:xfrm>
            <a:off x="822960" y="3108960"/>
            <a:ext cx="685800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0</a:t>
            </a:r>
          </a:p>
        </p:txBody>
      </p:sp>
      <p:sp>
        <p:nvSpPr>
          <p:cNvPr id="12" name="Кусок 10"/>
          <p:cNvSpPr/>
          <p:nvPr/>
        </p:nvSpPr>
        <p:spPr>
          <a:xfrm>
            <a:off x="1618488" y="310896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3108960"/>
            <a:ext cx="3657600" cy="73152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→ 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А + В = АВ</a:t>
            </a:r>
          </a:p>
        </p:txBody>
      </p:sp>
      <p:sp>
        <p:nvSpPr>
          <p:cNvPr id="14" name="Кусок 01"/>
          <p:cNvSpPr/>
          <p:nvPr/>
        </p:nvSpPr>
        <p:spPr>
          <a:xfrm>
            <a:off x="822960" y="425196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15" name="Кусок 0"/>
          <p:cNvSpPr/>
          <p:nvPr/>
        </p:nvSpPr>
        <p:spPr>
          <a:xfrm>
            <a:off x="2304288" y="4251960"/>
            <a:ext cx="685800" cy="731520"/>
          </a:xfrm>
          <a:prstGeom prst="roundRect">
            <a:avLst>
              <a:gd name="adj" fmla="val 15000"/>
            </a:avLst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4251960"/>
            <a:ext cx="3657600" cy="73152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→ 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Б + А = БА</a:t>
            </a:r>
          </a:p>
        </p:txBody>
      </p:sp>
      <p:sp>
        <p:nvSpPr>
          <p:cNvPr id="17" name="Блок: Вывод"/>
          <p:cNvSpPr/>
          <p:nvPr/>
        </p:nvSpPr>
        <p:spPr>
          <a:xfrm>
            <a:off x="6949440" y="3108960"/>
            <a:ext cx="4785055" cy="1874519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Шапка блока: Вывод"/>
          <p:cNvSpPr/>
          <p:nvPr/>
        </p:nvSpPr>
        <p:spPr>
          <a:xfrm>
            <a:off x="6949440" y="3108960"/>
            <a:ext cx="478505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3547872"/>
            <a:ext cx="4693615" cy="1399031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Оба прочтения правильные. Значит, по такому коду сообщение однозначно не расшифровать.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Нужно правило для кодовых слов.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Причина: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код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(А) — начало кода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(Б). Читая слева, нельзя понять, где кончилась буква.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Коды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Условие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Кодовое дерево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Равномерные и неравномерные коды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4 / 20</a:t>
            </a:r>
          </a:p>
        </p:txBody>
      </p:sp>
      <p:sp>
        <p:nvSpPr>
          <p:cNvPr id="8" name="Блок: Термины (раздел 1.1)"/>
          <p:cNvSpPr/>
          <p:nvPr/>
        </p:nvSpPr>
        <p:spPr>
          <a:xfrm>
            <a:off x="457200" y="1508760"/>
            <a:ext cx="11277295" cy="155448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Термины (раздел 1.1)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Термины (раздел 1.1)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07899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Кодирование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перевод сообщения в код,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декодирование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восстановление сообщения по коду.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Однозначное декодирование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любое закодированное сообщение расшифровывается единственным способом.</a:t>
            </a:r>
          </a:p>
        </p:txBody>
      </p:sp>
      <p:sp>
        <p:nvSpPr>
          <p:cNvPr id="11" name="Блок: Равномерный код"/>
          <p:cNvSpPr/>
          <p:nvPr/>
        </p:nvSpPr>
        <p:spPr>
          <a:xfrm>
            <a:off x="457200" y="3291839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Равномерный код"/>
          <p:cNvSpPr/>
          <p:nvPr/>
        </p:nvSpPr>
        <p:spPr>
          <a:xfrm>
            <a:off x="457200" y="3291839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Равномерный 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0751"/>
            <a:ext cx="5394960" cy="2084831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Все кодовые слова одной длины.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Пример: ASCII, каждый символ — 8 бит.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Расшифровка простая: режем сообщение на куски по 8 бит.</a:t>
            </a:r>
          </a:p>
        </p:txBody>
      </p:sp>
      <p:sp>
        <p:nvSpPr>
          <p:cNvPr id="14" name="Блок: Неравномерный код"/>
          <p:cNvSpPr/>
          <p:nvPr/>
        </p:nvSpPr>
        <p:spPr>
          <a:xfrm>
            <a:off x="6245352" y="3291839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Неравномерный код"/>
          <p:cNvSpPr/>
          <p:nvPr/>
        </p:nvSpPr>
        <p:spPr>
          <a:xfrm>
            <a:off x="6245352" y="3291839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Неравномерный код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730751"/>
            <a:ext cx="5394960" cy="2084831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Кодовые слова разной длины.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Пример: азбука Морзе.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Плюс: частым буквам — короткие коды, сообщение короче. Минус: непонятно, где резать — нужно условие Фано.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Условие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Кодовое дерево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Прямое условие Фано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5 / 20</a:t>
            </a:r>
          </a:p>
        </p:txBody>
      </p:sp>
      <p:sp>
        <p:nvSpPr>
          <p:cNvPr id="8" name="Блок: Определение (раздел 2.1)"/>
          <p:cNvSpPr/>
          <p:nvPr/>
        </p:nvSpPr>
        <p:spPr>
          <a:xfrm>
            <a:off x="457200" y="1508760"/>
            <a:ext cx="11277295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Определение (раздел 2.1)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Определение (раздел 2.1)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9418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Никакое кодовое слово не является началом другого кодового слова.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Такой код называют префиксным. Именно его требует задание №4.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1089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377440"/>
              </a:tblGrid>
              <a:tr h="402336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Буква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Код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Начало другого?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02336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А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02336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В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02336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45352" y="31089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377440"/>
              </a:tblGrid>
              <a:tr h="50292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Буква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Код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Начало другого?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0292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А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C00000"/>
                          </a:solidFill>
                          <a:latin typeface="Arial"/>
                        </a:rPr>
                        <a:t>да: 01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0292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В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166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7B34"/>
                </a:solidFill>
                <a:latin typeface="Arial"/>
              </a:rPr>
              <a:t>✓ условие Фано выполнено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5166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✗ нарушено — это код из разминки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50408"/>
            <a:ext cx="11277295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Как читать: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идём слева направо и копим биты; как только набрали кодовое слово — это буква, начинаем следующую.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Условие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Кодовое дерево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Обратное условие Фано и однозначность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6 / 20</a:t>
            </a:r>
          </a:p>
        </p:txBody>
      </p:sp>
      <p:sp>
        <p:nvSpPr>
          <p:cNvPr id="8" name="Блок: Обратное условие (раздел 2.2)"/>
          <p:cNvSpPr/>
          <p:nvPr/>
        </p:nvSpPr>
        <p:spPr>
          <a:xfrm>
            <a:off x="457200" y="15087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Обратное условие (раздел 2.2)"/>
          <p:cNvSpPr/>
          <p:nvPr/>
        </p:nvSpPr>
        <p:spPr>
          <a:xfrm>
            <a:off x="457200" y="1508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Обратное условие (раздел 2.2)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5394960" cy="19019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Никакое кодовое слово не является окончанием другого.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Пример: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А — 1, Б — 10, В — 100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Прямое условие нарушено (1 — начало 10), обратное выполнено.</a:t>
            </a:r>
          </a:p>
        </p:txBody>
      </p:sp>
      <p:sp>
        <p:nvSpPr>
          <p:cNvPr id="11" name="Блок: Читаем с конца"/>
          <p:cNvSpPr/>
          <p:nvPr/>
        </p:nvSpPr>
        <p:spPr>
          <a:xfrm>
            <a:off x="6245352" y="15087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Читаем с конца"/>
          <p:cNvSpPr/>
          <p:nvPr/>
        </p:nvSpPr>
        <p:spPr>
          <a:xfrm>
            <a:off x="6245352" y="1508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Читаем с конца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47672"/>
            <a:ext cx="5394960" cy="19019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Сообщение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10100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с конца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100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= В, остаётся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= 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Ответ: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БВ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— единственное прочтение.</a:t>
            </a:r>
          </a:p>
        </p:txBody>
      </p:sp>
      <p:sp>
        <p:nvSpPr>
          <p:cNvPr id="14" name="Блок: Главное (раздел 2.3)"/>
          <p:cNvSpPr/>
          <p:nvPr/>
        </p:nvSpPr>
        <p:spPr>
          <a:xfrm>
            <a:off x="457200" y="4114800"/>
            <a:ext cx="11277295" cy="17373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Главное (раздел 2.3)"/>
          <p:cNvSpPr/>
          <p:nvPr/>
        </p:nvSpPr>
        <p:spPr>
          <a:xfrm>
            <a:off x="457200" y="411480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Главное (раздел 2.3)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53712"/>
            <a:ext cx="11185855" cy="12618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Если выполнено </a:t>
            </a:r>
            <a:r>
              <a:rPr sz="1600" b="1" i="0">
                <a:solidFill>
                  <a:srgbClr val="1A1A1A"/>
                </a:solidFill>
                <a:latin typeface="Arial"/>
              </a:rPr>
              <a:t>прямое или обратное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условие Фано, сообщение расшифровывается однозначно.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Обратное утверждение неверно: код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0, 01, 110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однозначный, хотя оба условия нарушены. Условие Фано — достаточное, но не необходимое.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Условие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Кодовое дерево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Кодовое дерево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7 /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74519"/>
            <a:ext cx="128016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55264" y="20391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606039"/>
            <a:ext cx="1097280" cy="731521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43984" y="27706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280160" y="1874519"/>
            <a:ext cx="128016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91055" y="20391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743200" y="2606039"/>
            <a:ext cx="1097280" cy="731521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62656" y="27706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206240" y="3337560"/>
            <a:ext cx="73152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42816" y="35021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3337560"/>
            <a:ext cx="73152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58384" y="35021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20" name="Корень"/>
          <p:cNvSpPr/>
          <p:nvPr/>
        </p:nvSpPr>
        <p:spPr>
          <a:xfrm>
            <a:off x="2487168" y="1801367"/>
            <a:ext cx="146304" cy="14630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Вершина 1"/>
          <p:cNvSpPr/>
          <p:nvPr/>
        </p:nvSpPr>
        <p:spPr>
          <a:xfrm>
            <a:off x="3630168" y="239572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1</a:t>
            </a:r>
          </a:p>
        </p:txBody>
      </p:sp>
      <p:sp>
        <p:nvSpPr>
          <p:cNvPr id="22" name="Вершина 11"/>
          <p:cNvSpPr/>
          <p:nvPr/>
        </p:nvSpPr>
        <p:spPr>
          <a:xfrm>
            <a:off x="4727448" y="31272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11</a:t>
            </a:r>
          </a:p>
        </p:txBody>
      </p:sp>
      <p:sp>
        <p:nvSpPr>
          <p:cNvPr id="23" name="Вершина 0 (А)"/>
          <p:cNvSpPr/>
          <p:nvPr/>
        </p:nvSpPr>
        <p:spPr>
          <a:xfrm>
            <a:off x="1005839" y="233172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Вершина 10 (Б)"/>
          <p:cNvSpPr/>
          <p:nvPr/>
        </p:nvSpPr>
        <p:spPr>
          <a:xfrm>
            <a:off x="2468880" y="306324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25" name="Вершина 110 (В)"/>
          <p:cNvSpPr/>
          <p:nvPr/>
        </p:nvSpPr>
        <p:spPr>
          <a:xfrm>
            <a:off x="3931920" y="379476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В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110</a:t>
            </a:r>
          </a:p>
        </p:txBody>
      </p:sp>
      <p:sp>
        <p:nvSpPr>
          <p:cNvPr id="26" name="Вершина 111 (Г)"/>
          <p:cNvSpPr/>
          <p:nvPr/>
        </p:nvSpPr>
        <p:spPr>
          <a:xfrm>
            <a:off x="5394960" y="379476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111</a:t>
            </a:r>
          </a:p>
        </p:txBody>
      </p:sp>
      <p:sp>
        <p:nvSpPr>
          <p:cNvPr id="27" name="Блок: Правила (разделы 3.1–3.2)"/>
          <p:cNvSpPr/>
          <p:nvPr/>
        </p:nvSpPr>
        <p:spPr>
          <a:xfrm>
            <a:off x="6766560" y="1508760"/>
            <a:ext cx="4967935" cy="4343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Шапка блока: Правила (разделы 3.1–3.2)"/>
          <p:cNvSpPr/>
          <p:nvPr/>
        </p:nvSpPr>
        <p:spPr>
          <a:xfrm>
            <a:off x="6766560" y="1508760"/>
            <a:ext cx="496793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Правила (разделы 3.1–3.2)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947672"/>
            <a:ext cx="4876495" cy="3867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Корень — пустая строка.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Шаг по ребру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влево, по ребру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вправо.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Путь от корня до вершины — её код.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Условие Фано: все буквы стоят в листьях.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Если буква во внутренней вершине, её код — начало чужого кода.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Здесь: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А 0, Б 10, В 110, Г 111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все в листьях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Условие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Кодовое дерево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8 / 20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889504" y="1874519"/>
            <a:ext cx="146304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1840" y="20391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9504" y="2606039"/>
            <a:ext cx="1170432" cy="731521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29584" y="27706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19072" y="2606039"/>
            <a:ext cx="1170432" cy="731521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75104" y="27706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52544" y="1874519"/>
            <a:ext cx="1463039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38927" y="20391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474720" y="3337560"/>
            <a:ext cx="585216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38144" y="35021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33856" y="3337560"/>
            <a:ext cx="585216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35021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19072" y="3337560"/>
            <a:ext cx="585216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66544" y="35021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59936" y="3337560"/>
            <a:ext cx="585216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07407" y="35021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24" name="Корень"/>
          <p:cNvSpPr/>
          <p:nvPr/>
        </p:nvSpPr>
        <p:spPr>
          <a:xfrm>
            <a:off x="4279392" y="1801367"/>
            <a:ext cx="146304" cy="14630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Вершина 0"/>
          <p:cNvSpPr/>
          <p:nvPr/>
        </p:nvSpPr>
        <p:spPr>
          <a:xfrm>
            <a:off x="2679192" y="239572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0</a:t>
            </a:r>
          </a:p>
        </p:txBody>
      </p:sp>
      <p:sp>
        <p:nvSpPr>
          <p:cNvPr id="26" name="Вершина 01"/>
          <p:cNvSpPr/>
          <p:nvPr/>
        </p:nvSpPr>
        <p:spPr>
          <a:xfrm>
            <a:off x="3831336" y="31089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7" name="Вершина 00"/>
          <p:cNvSpPr/>
          <p:nvPr/>
        </p:nvSpPr>
        <p:spPr>
          <a:xfrm>
            <a:off x="1490472" y="31089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00</a:t>
            </a:r>
          </a:p>
        </p:txBody>
      </p:sp>
      <p:sp>
        <p:nvSpPr>
          <p:cNvPr id="28" name="Вершина 1 (А)"/>
          <p:cNvSpPr/>
          <p:nvPr/>
        </p:nvSpPr>
        <p:spPr>
          <a:xfrm>
            <a:off x="5541264" y="233172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Вершина 010 (Б)"/>
          <p:cNvSpPr/>
          <p:nvPr/>
        </p:nvSpPr>
        <p:spPr>
          <a:xfrm>
            <a:off x="3200400" y="379476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010</a:t>
            </a:r>
          </a:p>
        </p:txBody>
      </p:sp>
      <p:sp>
        <p:nvSpPr>
          <p:cNvPr id="30" name="Вершина 000 (В)"/>
          <p:cNvSpPr/>
          <p:nvPr/>
        </p:nvSpPr>
        <p:spPr>
          <a:xfrm>
            <a:off x="859536" y="379476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В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000</a:t>
            </a:r>
          </a:p>
        </p:txBody>
      </p:sp>
      <p:sp>
        <p:nvSpPr>
          <p:cNvPr id="31" name="Вершина 001"/>
          <p:cNvSpPr/>
          <p:nvPr/>
        </p:nvSpPr>
        <p:spPr>
          <a:xfrm>
            <a:off x="2075688" y="3840480"/>
            <a:ext cx="457200" cy="45720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001</a:t>
            </a:r>
          </a:p>
        </p:txBody>
      </p:sp>
      <p:sp>
        <p:nvSpPr>
          <p:cNvPr id="32" name="Вершина 011"/>
          <p:cNvSpPr/>
          <p:nvPr/>
        </p:nvSpPr>
        <p:spPr>
          <a:xfrm>
            <a:off x="4416552" y="3840480"/>
            <a:ext cx="457200" cy="45720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011</a:t>
            </a:r>
          </a:p>
        </p:txBody>
      </p:sp>
      <p:sp>
        <p:nvSpPr>
          <p:cNvPr id="33" name="Легенда занята буквой"/>
          <p:cNvSpPr/>
          <p:nvPr/>
        </p:nvSpPr>
        <p:spPr>
          <a:xfrm>
            <a:off x="640080" y="4718303"/>
            <a:ext cx="219456" cy="219456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4663440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занята буквой</a:t>
            </a:r>
          </a:p>
        </p:txBody>
      </p:sp>
      <p:sp>
        <p:nvSpPr>
          <p:cNvPr id="35" name="Легенда на пути к коду"/>
          <p:cNvSpPr/>
          <p:nvPr/>
        </p:nvSpPr>
        <p:spPr>
          <a:xfrm>
            <a:off x="640080" y="5065775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010912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на пути к коду</a:t>
            </a:r>
          </a:p>
        </p:txBody>
      </p:sp>
      <p:sp>
        <p:nvSpPr>
          <p:cNvPr id="37" name="Легенда начало кода: кажется свободной, но нельзя"/>
          <p:cNvSpPr/>
          <p:nvPr/>
        </p:nvSpPr>
        <p:spPr>
          <a:xfrm>
            <a:off x="640080" y="5413247"/>
            <a:ext cx="219456" cy="2194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358383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начало кода: кажется свободной, но нельзя</a:t>
            </a:r>
          </a:p>
        </p:txBody>
      </p:sp>
      <p:sp>
        <p:nvSpPr>
          <p:cNvPr id="39" name="Легенда свободна"/>
          <p:cNvSpPr/>
          <p:nvPr/>
        </p:nvSpPr>
        <p:spPr>
          <a:xfrm>
            <a:off x="640080" y="5760720"/>
            <a:ext cx="219456" cy="219456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705856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свободна</a:t>
            </a:r>
          </a:p>
        </p:txBody>
      </p:sp>
      <p:sp>
        <p:nvSpPr>
          <p:cNvPr id="41" name="Блок: Вершина свободна, если"/>
          <p:cNvSpPr/>
          <p:nvPr/>
        </p:nvSpPr>
        <p:spPr>
          <a:xfrm>
            <a:off x="6766560" y="1508760"/>
            <a:ext cx="4967935" cy="4343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Шапка блока: Вершина свободна, если"/>
          <p:cNvSpPr/>
          <p:nvPr/>
        </p:nvSpPr>
        <p:spPr>
          <a:xfrm>
            <a:off x="6766560" y="1508760"/>
            <a:ext cx="496793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Вершина свободна, если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1947672"/>
            <a:ext cx="4876495" cy="3867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она не кодовое слово;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она не начало кодового слова (не лежит на пути к букве);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кодовое слово не является её началом (она не под буквой).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Здесь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начала кодов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000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Свободны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001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011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Под свободной вершиной можно продолжать дерево: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0010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0011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Условие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Кодовое дерево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Свободные вершины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Алгоритм решения задач №4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9 / 20</a:t>
            </a:r>
          </a:p>
        </p:txBody>
      </p:sp>
      <p:sp>
        <p:nvSpPr>
          <p:cNvPr id="8" name="Шаг 1"/>
          <p:cNvSpPr/>
          <p:nvPr/>
        </p:nvSpPr>
        <p:spPr>
          <a:xfrm>
            <a:off x="457200" y="1592072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6903719" cy="605535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Анализ условия: выписать известные кодовые слова и что нужно найти</a:t>
            </a:r>
          </a:p>
        </p:txBody>
      </p:sp>
      <p:sp>
        <p:nvSpPr>
          <p:cNvPr id="10" name="Шаг 2"/>
          <p:cNvSpPr/>
          <p:nvPr/>
        </p:nvSpPr>
        <p:spPr>
          <a:xfrm>
            <a:off x="457200" y="238048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97176"/>
            <a:ext cx="6903719" cy="605535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Построить дерево: каждое кодовое слово — путь от корня, буква — в листе</a:t>
            </a:r>
          </a:p>
        </p:txBody>
      </p:sp>
      <p:sp>
        <p:nvSpPr>
          <p:cNvPr id="12" name="Шаг 3"/>
          <p:cNvSpPr/>
          <p:nvPr/>
        </p:nvSpPr>
        <p:spPr>
          <a:xfrm>
            <a:off x="457200" y="316890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85592"/>
            <a:ext cx="6903719" cy="605535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Найти свободные вершины: не кодовое слово, не начало кода, не под буквой</a:t>
            </a:r>
          </a:p>
        </p:txBody>
      </p:sp>
      <p:sp>
        <p:nvSpPr>
          <p:cNvPr id="14" name="Шаг 4"/>
          <p:cNvSpPr/>
          <p:nvPr/>
        </p:nvSpPr>
        <p:spPr>
          <a:xfrm>
            <a:off x="457200" y="3957319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74007"/>
            <a:ext cx="6903719" cy="605535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Раздать свободные вершины оставшимся буквам: короче — тем, что встречаются чаще</a:t>
            </a:r>
          </a:p>
        </p:txBody>
      </p:sp>
      <p:sp>
        <p:nvSpPr>
          <p:cNvPr id="16" name="Шаг 5"/>
          <p:cNvSpPr/>
          <p:nvPr/>
        </p:nvSpPr>
        <p:spPr>
          <a:xfrm>
            <a:off x="457200" y="4671567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62423"/>
            <a:ext cx="6903719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Проверить условие Фано и посчитать ответ</a:t>
            </a:r>
          </a:p>
        </p:txBody>
      </p:sp>
      <p:sp>
        <p:nvSpPr>
          <p:cNvPr id="18" name="Блок: Помнить"/>
          <p:cNvSpPr/>
          <p:nvPr/>
        </p:nvSpPr>
        <p:spPr>
          <a:xfrm>
            <a:off x="8229600" y="1508760"/>
            <a:ext cx="3504895" cy="43434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Шапка блока: Помнить"/>
          <p:cNvSpPr/>
          <p:nvPr/>
        </p:nvSpPr>
        <p:spPr>
          <a:xfrm>
            <a:off x="8229600" y="1508760"/>
            <a:ext cx="35048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Помнить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47672"/>
            <a:ext cx="3413455" cy="38679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Код нужен каждой букве алфавита, даже если её нет в слове.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Одна свободная вершина — одна буква. Если букв больше, вершину делим: x → x0, x1.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Сумма длин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Кратчайший код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Длина слова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Декодирование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Ошибки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Тип 1: наименьшая суммарная длина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10 / 20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7589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Шесть букв А, Б, В, Г, Д, Е; код удовлетворяет условию Фано;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А — 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Б — 110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Какова наименьшая суммарная длина всех шести кодовых слов?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9795" y="3154679"/>
            <a:ext cx="1240155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44736" y="32964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09950" y="3840479"/>
            <a:ext cx="106299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96308" y="39822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346960" y="3840479"/>
            <a:ext cx="106299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49271" y="39822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72940" y="4526279"/>
            <a:ext cx="70866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82134" y="46680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29640" y="3154679"/>
            <a:ext cx="1240155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20533" y="32964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764280" y="4526279"/>
            <a:ext cx="70866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89426" y="46680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874520" y="4526279"/>
            <a:ext cx="47244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81556" y="46680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46960" y="4526279"/>
            <a:ext cx="47244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38044" y="46680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709160" y="5212079"/>
            <a:ext cx="47244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16196" y="53538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81600" y="5212079"/>
            <a:ext cx="47244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72684" y="53538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31" name="Корень"/>
          <p:cNvSpPr/>
          <p:nvPr/>
        </p:nvSpPr>
        <p:spPr>
          <a:xfrm>
            <a:off x="2096643" y="3081527"/>
            <a:ext cx="146304" cy="14630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Вершина 1"/>
          <p:cNvSpPr/>
          <p:nvPr/>
        </p:nvSpPr>
        <p:spPr>
          <a:xfrm>
            <a:off x="3199638" y="363016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1</a:t>
            </a:r>
          </a:p>
        </p:txBody>
      </p:sp>
      <p:sp>
        <p:nvSpPr>
          <p:cNvPr id="33" name="Вершина 11"/>
          <p:cNvSpPr/>
          <p:nvPr/>
        </p:nvSpPr>
        <p:spPr>
          <a:xfrm>
            <a:off x="4262628" y="431596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11</a:t>
            </a:r>
          </a:p>
        </p:txBody>
      </p:sp>
      <p:sp>
        <p:nvSpPr>
          <p:cNvPr id="34" name="Вершина 10"/>
          <p:cNvSpPr/>
          <p:nvPr/>
        </p:nvSpPr>
        <p:spPr>
          <a:xfrm>
            <a:off x="2136648" y="431596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10</a:t>
            </a:r>
          </a:p>
        </p:txBody>
      </p:sp>
      <p:sp>
        <p:nvSpPr>
          <p:cNvPr id="35" name="Вершина 111"/>
          <p:cNvSpPr/>
          <p:nvPr/>
        </p:nvSpPr>
        <p:spPr>
          <a:xfrm>
            <a:off x="4971288" y="500176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B2"/>
                </a:solidFill>
                <a:latin typeface="Arial"/>
              </a:rPr>
              <a:t>111</a:t>
            </a:r>
          </a:p>
        </p:txBody>
      </p:sp>
      <p:sp>
        <p:nvSpPr>
          <p:cNvPr id="36" name="Вершина 0 (А)"/>
          <p:cNvSpPr/>
          <p:nvPr/>
        </p:nvSpPr>
        <p:spPr>
          <a:xfrm>
            <a:off x="655319" y="3566159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37" name="Вершина 110 (Б)"/>
          <p:cNvSpPr/>
          <p:nvPr/>
        </p:nvSpPr>
        <p:spPr>
          <a:xfrm>
            <a:off x="3489960" y="4937759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110</a:t>
            </a:r>
          </a:p>
        </p:txBody>
      </p:sp>
      <p:sp>
        <p:nvSpPr>
          <p:cNvPr id="38" name="Вершина 100 (В)"/>
          <p:cNvSpPr/>
          <p:nvPr/>
        </p:nvSpPr>
        <p:spPr>
          <a:xfrm>
            <a:off x="1600200" y="4937759"/>
            <a:ext cx="548640" cy="5486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В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39" name="Вершина 101 (Г)"/>
          <p:cNvSpPr/>
          <p:nvPr/>
        </p:nvSpPr>
        <p:spPr>
          <a:xfrm>
            <a:off x="2545080" y="4937759"/>
            <a:ext cx="548640" cy="5486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101</a:t>
            </a:r>
          </a:p>
        </p:txBody>
      </p:sp>
      <p:sp>
        <p:nvSpPr>
          <p:cNvPr id="40" name="Вершина 1110 (Д)"/>
          <p:cNvSpPr/>
          <p:nvPr/>
        </p:nvSpPr>
        <p:spPr>
          <a:xfrm>
            <a:off x="4434840" y="5623559"/>
            <a:ext cx="548640" cy="5486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1110</a:t>
            </a:r>
          </a:p>
        </p:txBody>
      </p:sp>
      <p:sp>
        <p:nvSpPr>
          <p:cNvPr id="41" name="Вершина 1111 (Е)"/>
          <p:cNvSpPr/>
          <p:nvPr/>
        </p:nvSpPr>
        <p:spPr>
          <a:xfrm>
            <a:off x="5379720" y="5623559"/>
            <a:ext cx="548640" cy="54864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1111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400800" y="2926080"/>
          <a:ext cx="533369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944575"/>
              </a:tblGrid>
              <a:tr h="49149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Как делим свободные 10 и 111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Длины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Сумма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49149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10 → 100, 101;  111 → 1110, 1111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3+3+4+4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E7B34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49149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10 → 100, 1010, 1011;  111 оставляем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3+4+4+3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E7B34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10 оставляем;  111 → 1110, 11110, 11111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</a:rPr>
                        <a:t>2+4+5+5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C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400800" y="5029200"/>
            <a:ext cx="5333695" cy="10515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Четырём буквам нужно 4 листа, а свободных вершин две: 10 и 111. Делим их.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Итого: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1 + 3 + 14 = </a:t>
            </a:r>
            <a:r>
              <a:rPr sz="1500" b="1" i="0">
                <a:solidFill>
                  <a:srgbClr val="C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Сумма длин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Кратчайший код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Длина слова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Декодирование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Ошибки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Тип 2: кратчайшее кодовое слово для буквы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11 / 20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7589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Буквы А, Б, В, Г, Д;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А — 00, Б — 011, В — 10, Г — 111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Кратчайшее кодовое слово для Д? Если таких несколько — с наименьшим числовым значением.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638300" y="3200400"/>
            <a:ext cx="141732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17776" y="33649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38300" y="3931920"/>
            <a:ext cx="70866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47494" y="40965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5620" y="3200400"/>
            <a:ext cx="141732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19144" y="33649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72940" y="3931920"/>
            <a:ext cx="70866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82134" y="40965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29640" y="3931920"/>
            <a:ext cx="70866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4786" y="40965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46960" y="4663440"/>
            <a:ext cx="47244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38044" y="4828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764280" y="3931920"/>
            <a:ext cx="70866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89426" y="409651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81600" y="4663440"/>
            <a:ext cx="47244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72684" y="4828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874520" y="4663440"/>
            <a:ext cx="47244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81556" y="4828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709160" y="4663440"/>
            <a:ext cx="472440" cy="73152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16196" y="48280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sp>
        <p:nvSpPr>
          <p:cNvPr id="31" name="Корень"/>
          <p:cNvSpPr/>
          <p:nvPr/>
        </p:nvSpPr>
        <p:spPr>
          <a:xfrm>
            <a:off x="2982468" y="3127248"/>
            <a:ext cx="146304" cy="146304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Вершина 0"/>
          <p:cNvSpPr/>
          <p:nvPr/>
        </p:nvSpPr>
        <p:spPr>
          <a:xfrm>
            <a:off x="1427988" y="372160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0</a:t>
            </a:r>
          </a:p>
        </p:txBody>
      </p:sp>
      <p:sp>
        <p:nvSpPr>
          <p:cNvPr id="33" name="Вершина 01"/>
          <p:cNvSpPr/>
          <p:nvPr/>
        </p:nvSpPr>
        <p:spPr>
          <a:xfrm>
            <a:off x="2118360" y="44348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4" name="Вершина 1"/>
          <p:cNvSpPr/>
          <p:nvPr/>
        </p:nvSpPr>
        <p:spPr>
          <a:xfrm>
            <a:off x="4262628" y="3721607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B2"/>
                </a:solidFill>
                <a:latin typeface="Arial"/>
              </a:rPr>
              <a:t>1</a:t>
            </a:r>
          </a:p>
        </p:txBody>
      </p:sp>
      <p:sp>
        <p:nvSpPr>
          <p:cNvPr id="35" name="Вершина 11"/>
          <p:cNvSpPr/>
          <p:nvPr/>
        </p:nvSpPr>
        <p:spPr>
          <a:xfrm>
            <a:off x="4953000" y="44348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36" name="Вершина 00 (А)"/>
          <p:cNvSpPr/>
          <p:nvPr/>
        </p:nvSpPr>
        <p:spPr>
          <a:xfrm>
            <a:off x="655319" y="438912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00</a:t>
            </a:r>
          </a:p>
        </p:txBody>
      </p:sp>
      <p:sp>
        <p:nvSpPr>
          <p:cNvPr id="37" name="Вершина 011 (Б)"/>
          <p:cNvSpPr/>
          <p:nvPr/>
        </p:nvSpPr>
        <p:spPr>
          <a:xfrm>
            <a:off x="2545080" y="512064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011</a:t>
            </a:r>
          </a:p>
        </p:txBody>
      </p:sp>
      <p:sp>
        <p:nvSpPr>
          <p:cNvPr id="38" name="Вершина 10 (В)"/>
          <p:cNvSpPr/>
          <p:nvPr/>
        </p:nvSpPr>
        <p:spPr>
          <a:xfrm>
            <a:off x="3489960" y="438912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В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9" name="Вершина 111 (Г)"/>
          <p:cNvSpPr/>
          <p:nvPr/>
        </p:nvSpPr>
        <p:spPr>
          <a:xfrm>
            <a:off x="5379720" y="5120640"/>
            <a:ext cx="548640" cy="54864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111</a:t>
            </a:r>
          </a:p>
        </p:txBody>
      </p:sp>
      <p:sp>
        <p:nvSpPr>
          <p:cNvPr id="40" name="Вершина 010"/>
          <p:cNvSpPr/>
          <p:nvPr/>
        </p:nvSpPr>
        <p:spPr>
          <a:xfrm>
            <a:off x="1645920" y="5166360"/>
            <a:ext cx="457200" cy="45720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010</a:t>
            </a:r>
          </a:p>
        </p:txBody>
      </p:sp>
      <p:sp>
        <p:nvSpPr>
          <p:cNvPr id="41" name="Вершина 110"/>
          <p:cNvSpPr/>
          <p:nvPr/>
        </p:nvSpPr>
        <p:spPr>
          <a:xfrm>
            <a:off x="4480560" y="5166360"/>
            <a:ext cx="457200" cy="457200"/>
          </a:xfrm>
          <a:prstGeom prst="ellipse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110</a:t>
            </a:r>
          </a:p>
        </p:txBody>
      </p:sp>
      <p:sp>
        <p:nvSpPr>
          <p:cNvPr id="42" name="Шаг 1"/>
          <p:cNvSpPr/>
          <p:nvPr/>
        </p:nvSpPr>
        <p:spPr>
          <a:xfrm>
            <a:off x="6400800" y="2935224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2926080"/>
            <a:ext cx="4739335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Длина 1: 0 и 1 — начала кодов</a:t>
            </a:r>
          </a:p>
        </p:txBody>
      </p:sp>
      <p:sp>
        <p:nvSpPr>
          <p:cNvPr id="44" name="Шаг 2"/>
          <p:cNvSpPr/>
          <p:nvPr/>
        </p:nvSpPr>
        <p:spPr>
          <a:xfrm>
            <a:off x="6400800" y="356082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493008"/>
            <a:ext cx="4739335" cy="574548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Длина 2: 00 и 10 заняты, 01 и 11 — начала 011 и 111</a:t>
            </a:r>
          </a:p>
        </p:txBody>
      </p:sp>
      <p:sp>
        <p:nvSpPr>
          <p:cNvPr id="46" name="Шаг 3"/>
          <p:cNvSpPr/>
          <p:nvPr/>
        </p:nvSpPr>
        <p:spPr>
          <a:xfrm>
            <a:off x="6400800" y="4186428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177284"/>
            <a:ext cx="4739335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Длина 3: свободны 010 и 110</a:t>
            </a:r>
          </a:p>
        </p:txBody>
      </p:sp>
      <p:sp>
        <p:nvSpPr>
          <p:cNvPr id="48" name="Шаг 4"/>
          <p:cNvSpPr/>
          <p:nvPr/>
        </p:nvSpPr>
        <p:spPr>
          <a:xfrm>
            <a:off x="6400800" y="4753356"/>
            <a:ext cx="438912" cy="438912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744212"/>
            <a:ext cx="4739335" cy="457200"/>
          </a:xfrm>
          <a:prstGeom prst="rect">
            <a:avLst/>
          </a:prstGeom>
          <a:noFill/>
        </p:spPr>
        <p:txBody>
          <a:bodyPr wrap="square" anchor="ctr" lIns="73152" rIns="73152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Наименьшее числовое: </a:t>
            </a:r>
            <a:r>
              <a:rPr sz="1500" b="1" i="0">
                <a:solidFill>
                  <a:srgbClr val="C00000"/>
                </a:solidFill>
                <a:latin typeface="Arial"/>
              </a:rPr>
              <a:t>010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Сумма длин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Кратчайший код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Длина слова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Декодирование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Ошибки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Тип 3: сколько бит займёт слово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12 / 20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0515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5760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Буквы А, Б, Д, К, Р;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Б — 00, К — 010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Наименьшее число двоичных знаков для слова </a:t>
            </a:r>
            <a:r>
              <a:rPr sz="1500" b="1" i="0">
                <a:solidFill>
                  <a:srgbClr val="1A1A1A"/>
                </a:solidFill>
                <a:latin typeface="Arial"/>
              </a:rPr>
              <a:t>АБРАКАДАБРА</a:t>
            </a:r>
            <a:r>
              <a:rPr sz="15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743200"/>
          <a:ext cx="3931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548640"/>
                <a:gridCol w="548640"/>
                <a:gridCol w="548640"/>
                <a:gridCol w="548640"/>
              </a:tblGrid>
              <a:tr h="6705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Буква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Р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К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Д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6705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Сколько раз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6705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Код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892040"/>
            <a:ext cx="39319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Свободны вершины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011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две вершины на три буквы А, Р, Д.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2743200"/>
          <a:ext cx="70710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4327855"/>
              </a:tblGrid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Р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Д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Бит в слове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0110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0111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7B34"/>
                          </a:solidFill>
                          <a:latin typeface="Arial"/>
                        </a:rPr>
                        <a:t>5·1 + 2·4 + 4 + 2·2 + 3 = 24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7B34"/>
                          </a:solidFill>
                          <a:latin typeface="Arial"/>
                        </a:rPr>
                        <a:t>5·2 + 2·2 + 3 + 2·2 + 3 =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0110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Courier New"/>
                        </a:rPr>
                        <a:t>0111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C00000"/>
                          </a:solidFill>
                          <a:latin typeface="Arial"/>
                        </a:rPr>
                        <a:t>5·4 + 2·1 + 4 + 2·2 + 3 = 33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5257800"/>
            <a:ext cx="7071055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Ответ: </a:t>
            </a:r>
            <a:r>
              <a:rPr sz="1600" b="1" i="0">
                <a:solidFill>
                  <a:srgbClr val="C00000"/>
                </a:solidFill>
                <a:latin typeface="Arial"/>
              </a:rPr>
              <a:t>24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Короткий код — самой частой букве 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Сумма длин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Кратчайший код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Длина слова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Декодирование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Ошибки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Тип 4: расшифровка сообщения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13 / 20</a:t>
            </a:r>
          </a:p>
        </p:txBody>
      </p:sp>
      <p:sp>
        <p:nvSpPr>
          <p:cNvPr id="8" name="Блок: Задача"/>
          <p:cNvSpPr/>
          <p:nvPr/>
        </p:nvSpPr>
        <p:spPr>
          <a:xfrm>
            <a:off x="457200" y="1508760"/>
            <a:ext cx="11277295" cy="105156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57607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Код Фано: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К — 10, О — 0, Ш — 110, А — 111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Расшифруйте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10011010111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Кусок 10"/>
          <p:cNvSpPr/>
          <p:nvPr/>
        </p:nvSpPr>
        <p:spPr>
          <a:xfrm>
            <a:off x="640080" y="2971800"/>
            <a:ext cx="1316736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316736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К</a:t>
            </a:r>
          </a:p>
        </p:txBody>
      </p:sp>
      <p:sp>
        <p:nvSpPr>
          <p:cNvPr id="13" name="Кусок 0"/>
          <p:cNvSpPr/>
          <p:nvPr/>
        </p:nvSpPr>
        <p:spPr>
          <a:xfrm>
            <a:off x="2093976" y="2971800"/>
            <a:ext cx="749808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urier New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3749039"/>
            <a:ext cx="749808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О</a:t>
            </a:r>
          </a:p>
        </p:txBody>
      </p:sp>
      <p:sp>
        <p:nvSpPr>
          <p:cNvPr id="15" name="Кусок 110"/>
          <p:cNvSpPr/>
          <p:nvPr/>
        </p:nvSpPr>
        <p:spPr>
          <a:xfrm>
            <a:off x="2980944" y="2971800"/>
            <a:ext cx="1883664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urier New"/>
              </a:rPr>
              <a:t>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749039"/>
            <a:ext cx="1883664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Ш</a:t>
            </a:r>
          </a:p>
        </p:txBody>
      </p:sp>
      <p:sp>
        <p:nvSpPr>
          <p:cNvPr id="17" name="Кусок 10"/>
          <p:cNvSpPr/>
          <p:nvPr/>
        </p:nvSpPr>
        <p:spPr>
          <a:xfrm>
            <a:off x="5001768" y="2971800"/>
            <a:ext cx="1316736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3749039"/>
            <a:ext cx="1316736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К</a:t>
            </a:r>
          </a:p>
        </p:txBody>
      </p:sp>
      <p:sp>
        <p:nvSpPr>
          <p:cNvPr id="19" name="Кусок 111"/>
          <p:cNvSpPr/>
          <p:nvPr/>
        </p:nvSpPr>
        <p:spPr>
          <a:xfrm>
            <a:off x="6455664" y="2971800"/>
            <a:ext cx="1883664" cy="731520"/>
          </a:xfrm>
          <a:prstGeom prst="roundRect">
            <a:avLst>
              <a:gd name="adj" fmla="val 15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ourier New"/>
              </a:rPr>
              <a:t>111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49039"/>
            <a:ext cx="1883664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3333B2"/>
                </a:solidFill>
                <a:latin typeface="Arial"/>
              </a:rPr>
              <a:t>А</a:t>
            </a:r>
          </a:p>
        </p:txBody>
      </p:sp>
      <p:sp>
        <p:nvSpPr>
          <p:cNvPr id="21" name="Ответ"/>
          <p:cNvSpPr/>
          <p:nvPr/>
        </p:nvSpPr>
        <p:spPr>
          <a:xfrm>
            <a:off x="8778240" y="2834639"/>
            <a:ext cx="2956255" cy="1645920"/>
          </a:xfrm>
          <a:prstGeom prst="roundRect">
            <a:avLst>
              <a:gd name="adj" fmla="val 8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Ответ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3333B2"/>
                </a:solidFill>
                <a:latin typeface="Arial"/>
              </a:rPr>
              <a:t>КОШКА</a:t>
            </a:r>
          </a:p>
        </p:txBody>
      </p:sp>
      <p:sp>
        <p:nvSpPr>
          <p:cNvPr id="22" name="Блок: Как читать"/>
          <p:cNvSpPr/>
          <p:nvPr/>
        </p:nvSpPr>
        <p:spPr>
          <a:xfrm>
            <a:off x="457200" y="4617720"/>
            <a:ext cx="11277295" cy="123444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Шапка блока: Как читать"/>
          <p:cNvSpPr/>
          <p:nvPr/>
        </p:nvSpPr>
        <p:spPr>
          <a:xfrm>
            <a:off x="457200" y="461772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Как читать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56631"/>
            <a:ext cx="11185855" cy="75895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Копим биты слева: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нет такого кода,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К. Дальше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О, </a:t>
            </a:r>
            <a:r>
              <a:rPr sz="1500" b="0" i="0">
                <a:solidFill>
                  <a:srgbClr val="1A1A1A"/>
                </a:solidFill>
                <a:latin typeface="Courier New"/>
              </a:rPr>
              <a:t>1, 11, 110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Ш … Из-за условия Фано ошибиться нельзя: короче готового кода ничего не подходит.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Сумма длин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Кратчайший код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Длина слова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Декодирование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Ошибки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Типичные ошибки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14 /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425135"/>
              </a:tblGrid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Ошибка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Как избежать</a:t>
                      </a:r>
                    </a:p>
                  </a:txBody>
                  <a:tcPr>
                    <a:solidFill>
                      <a:srgbClr val="3333B2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Берут вершину, которая является началом кода (00 при В = 000)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Свободна только вершина без кодов над ней и под ней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Забывают, что код нужен всем буквам алфавита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Считать листья: одна свободная вершина — одна буква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Короткий код получает не самая частая буква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Сначала посчитать, сколько раз каждая буква в слове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Путают «наименьшее» и «наибольшее» числовое значение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Сравнивать коды одной длины как двоичные числа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Ставят букву во внутреннюю вершину (11 и 110)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  <a:tc>
                  <a:txBody>
                    <a:bodyPr wrap="square" anchor="ctr" lIns="54864" rIns="54864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Проверить: все буквы — в листьях дерева</a:t>
                      </a:r>
                    </a:p>
                  </a:txBody>
                  <a:tcPr>
                    <a:solidFill>
                      <a:srgbClr val="EB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Проверка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Свободные коды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Python: проверка условия Фано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15 / 20</a:t>
            </a:r>
          </a:p>
        </p:txBody>
      </p:sp>
      <p:sp>
        <p:nvSpPr>
          <p:cNvPr id="8" name="Код"/>
          <p:cNvSpPr/>
          <p:nvPr/>
        </p:nvSpPr>
        <p:spPr>
          <a:xfrm>
            <a:off x="457200" y="1508760"/>
            <a:ext cx="7132320" cy="30175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def fano(codes):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for a in codes: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for b in codes: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    if a != b and b.startswith(a):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        return False   </a:t>
            </a:r>
            <a:r>
              <a:rPr sz="1500" b="0" i="0">
                <a:solidFill>
                  <a:srgbClr val="1E7B34"/>
                </a:solidFill>
                <a:latin typeface="Courier New"/>
              </a:rPr>
              <a:t># a — начало 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return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print(fano(['0', '10', '110', '111']))  </a:t>
            </a:r>
            <a:r>
              <a:rPr sz="1500" b="0" i="0">
                <a:solidFill>
                  <a:srgbClr val="1E7B34"/>
                </a:solidFill>
                <a:latin typeface="Courier New"/>
              </a:rPr>
              <a:t>#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print(fano(['0', '01', '10']))          </a:t>
            </a:r>
            <a:r>
              <a:rPr sz="1500" b="0" i="0">
                <a:solidFill>
                  <a:srgbClr val="1E7B34"/>
                </a:solidFill>
                <a:latin typeface="Courier New"/>
              </a:rPr>
              <a:t># False</a:t>
            </a:r>
          </a:p>
        </p:txBody>
      </p:sp>
      <p:sp>
        <p:nvSpPr>
          <p:cNvPr id="9" name="Блок: Что делает"/>
          <p:cNvSpPr/>
          <p:nvPr/>
        </p:nvSpPr>
        <p:spPr>
          <a:xfrm>
            <a:off x="7955279" y="1508760"/>
            <a:ext cx="3779215" cy="30175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Шапка блока: Что делает"/>
          <p:cNvSpPr/>
          <p:nvPr/>
        </p:nvSpPr>
        <p:spPr>
          <a:xfrm>
            <a:off x="7955279" y="1508760"/>
            <a:ext cx="377921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Что делает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947672"/>
            <a:ext cx="3687775" cy="25420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b.startswith(a)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— начинается ли слово b со слова 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Перебираем все пары кодов: если хоть одно начало другого — условие нарушено.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11277295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Обратное условие: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то же самое с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b.endswith(a)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Проверка Фано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Свободные коды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Python: поиск свободных кодов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16 / 20</a:t>
            </a:r>
          </a:p>
        </p:txBody>
      </p:sp>
      <p:sp>
        <p:nvSpPr>
          <p:cNvPr id="8" name="Код"/>
          <p:cNvSpPr/>
          <p:nvPr/>
        </p:nvSpPr>
        <p:spPr>
          <a:xfrm>
            <a:off x="457200" y="1508760"/>
            <a:ext cx="7132320" cy="3657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from itertools import product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known = ['00', '011', '10', '111']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for n in range(1, 5):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for p in product('01', repeat=n):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w = ''.join(p)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if all(not w.startswith(k)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       not k.startswith(w) for k in known):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            print(w)</a:t>
            </a:r>
          </a:p>
        </p:txBody>
      </p:sp>
      <p:sp>
        <p:nvSpPr>
          <p:cNvPr id="9" name="Блок: Вывод программы"/>
          <p:cNvSpPr/>
          <p:nvPr/>
        </p:nvSpPr>
        <p:spPr>
          <a:xfrm>
            <a:off x="7955279" y="1508760"/>
            <a:ext cx="3779215" cy="365760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Шапка блока: Вывод программы"/>
          <p:cNvSpPr/>
          <p:nvPr/>
        </p:nvSpPr>
        <p:spPr>
          <a:xfrm>
            <a:off x="7955279" y="1508760"/>
            <a:ext cx="377921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Вывод программы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947672"/>
            <a:ext cx="3687775" cy="318211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010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110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0100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0101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Первая строка — ответ задачи типа 2: </a:t>
            </a:r>
            <a:r>
              <a:rPr sz="1500" b="1" i="0">
                <a:solidFill>
                  <a:srgbClr val="1A1A1A"/>
                </a:solidFill>
                <a:latin typeface="Arial"/>
              </a:rPr>
              <a:t>010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1277295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product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перебирает слова по возрастанию длины и числового значения.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Задачи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Ответы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Итоги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Практика: задачи 1–6 (вручную)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17 / 20</a:t>
            </a:r>
          </a:p>
        </p:txBody>
      </p:sp>
      <p:sp>
        <p:nvSpPr>
          <p:cNvPr id="8" name="Блок: Задача 1"/>
          <p:cNvSpPr/>
          <p:nvPr/>
        </p:nvSpPr>
        <p:spPr>
          <a:xfrm>
            <a:off x="457200" y="1508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 1"/>
          <p:cNvSpPr/>
          <p:nvPr/>
        </p:nvSpPr>
        <p:spPr>
          <a:xfrm>
            <a:off x="457200" y="1508760"/>
            <a:ext cx="5486400" cy="32918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Задача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92807"/>
            <a:ext cx="5394960" cy="996695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Шесть букв П, Р, И, В, Е, Т;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П — 10, Р — 011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Наименьшая суммарная длина всех шести кодов?</a:t>
            </a:r>
          </a:p>
        </p:txBody>
      </p:sp>
      <p:sp>
        <p:nvSpPr>
          <p:cNvPr id="11" name="Блок: Задача 2"/>
          <p:cNvSpPr/>
          <p:nvPr/>
        </p:nvSpPr>
        <p:spPr>
          <a:xfrm>
            <a:off x="6245352" y="1508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Задача 2"/>
          <p:cNvSpPr/>
          <p:nvPr/>
        </p:nvSpPr>
        <p:spPr>
          <a:xfrm>
            <a:off x="6245352" y="1508760"/>
            <a:ext cx="5486400" cy="32918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Задача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92807"/>
            <a:ext cx="5394960" cy="996695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Буквы А–Д;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А — 01, Б — 000, В — 101, Г — 11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Кратчайший код для Д; при равенстве — наименьший.</a:t>
            </a:r>
          </a:p>
        </p:txBody>
      </p:sp>
      <p:sp>
        <p:nvSpPr>
          <p:cNvPr id="14" name="Блок: Задача 3"/>
          <p:cNvSpPr/>
          <p:nvPr/>
        </p:nvSpPr>
        <p:spPr>
          <a:xfrm>
            <a:off x="457200" y="31089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блока: Задача 3"/>
          <p:cNvSpPr/>
          <p:nvPr/>
        </p:nvSpPr>
        <p:spPr>
          <a:xfrm>
            <a:off x="457200" y="3108960"/>
            <a:ext cx="5486400" cy="32918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Задача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93008"/>
            <a:ext cx="5394960" cy="996695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Буквы А, Б, В, Г;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А — 0, Б — 10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Кратчайший код для В, при котором и для Г найдётся код; при равенстве — наибольший.</a:t>
            </a:r>
          </a:p>
        </p:txBody>
      </p:sp>
      <p:sp>
        <p:nvSpPr>
          <p:cNvPr id="17" name="Блок: Задача 4"/>
          <p:cNvSpPr/>
          <p:nvPr/>
        </p:nvSpPr>
        <p:spPr>
          <a:xfrm>
            <a:off x="6245352" y="31089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Шапка блока: Задача 4"/>
          <p:cNvSpPr/>
          <p:nvPr/>
        </p:nvSpPr>
        <p:spPr>
          <a:xfrm>
            <a:off x="6245352" y="3108960"/>
            <a:ext cx="5486400" cy="32918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Задача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493008"/>
            <a:ext cx="5394960" cy="996695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Буквы А, Е, И, К, М, Т;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А — 11, Т — 001, Е — 0101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Сколько бит займёт МАТЕМАТИКА?</a:t>
            </a:r>
          </a:p>
        </p:txBody>
      </p:sp>
      <p:sp>
        <p:nvSpPr>
          <p:cNvPr id="20" name="Блок: Задача 5"/>
          <p:cNvSpPr/>
          <p:nvPr/>
        </p:nvSpPr>
        <p:spPr>
          <a:xfrm>
            <a:off x="457200" y="47091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Шапка блока: Задача 5"/>
          <p:cNvSpPr/>
          <p:nvPr/>
        </p:nvSpPr>
        <p:spPr>
          <a:xfrm>
            <a:off x="457200" y="4709160"/>
            <a:ext cx="5486400" cy="32918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Задача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394960" cy="996695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Код: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Л 00, Е 01, С 10, О 110, К 111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Расшифруйте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1011011111000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23" name="Блок: Задача 6"/>
          <p:cNvSpPr/>
          <p:nvPr/>
        </p:nvSpPr>
        <p:spPr>
          <a:xfrm>
            <a:off x="6245352" y="47091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Шапка блока: Задача 6"/>
          <p:cNvSpPr/>
          <p:nvPr/>
        </p:nvSpPr>
        <p:spPr>
          <a:xfrm>
            <a:off x="6245352" y="4709160"/>
            <a:ext cx="5486400" cy="32918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Задача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5093208"/>
            <a:ext cx="5394960" cy="996695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Восемь букв А–З; </a:t>
            </a:r>
            <a:r>
              <a:rPr sz="1400" b="0" i="0">
                <a:solidFill>
                  <a:srgbClr val="1A1A1A"/>
                </a:solidFill>
                <a:latin typeface="Courier New"/>
              </a:rPr>
              <a:t>А — 000, Б — 01, В — 101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Наименьшая суммарная длина всех восьми кодов?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Задачи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Ответы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Итоги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Практика: задачи 7–8 (Python)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18 / 20</a:t>
            </a:r>
          </a:p>
        </p:txBody>
      </p:sp>
      <p:sp>
        <p:nvSpPr>
          <p:cNvPr id="8" name="Блок: Задача 7"/>
          <p:cNvSpPr/>
          <p:nvPr/>
        </p:nvSpPr>
        <p:spPr>
          <a:xfrm>
            <a:off x="457200" y="1508760"/>
            <a:ext cx="11277295" cy="201168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дача 7"/>
          <p:cNvSpPr/>
          <p:nvPr/>
        </p:nvSpPr>
        <p:spPr>
          <a:xfrm>
            <a:off x="457200" y="1508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11185855" cy="153619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Какие наборы удовлетворяют условию Фано? Номера — по возрастанию, без пробелов.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1)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0, 10, 110, 111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 2)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0, 01, 11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 3)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00, 01, 10, 110, 1110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4)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1, 01, 001, 0001, 0000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  5)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10, 11, 100</a:t>
            </a:r>
          </a:p>
        </p:txBody>
      </p:sp>
      <p:sp>
        <p:nvSpPr>
          <p:cNvPr id="11" name="Блок: Задача 8"/>
          <p:cNvSpPr/>
          <p:nvPr/>
        </p:nvSpPr>
        <p:spPr>
          <a:xfrm>
            <a:off x="457200" y="3794760"/>
            <a:ext cx="11277295" cy="155448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Задача 8"/>
          <p:cNvSpPr/>
          <p:nvPr/>
        </p:nvSpPr>
        <p:spPr>
          <a:xfrm>
            <a:off x="457200" y="3794760"/>
            <a:ext cx="11277295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Задача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33672"/>
            <a:ext cx="11185855" cy="107899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Известны коды шести букв: </a:t>
            </a:r>
            <a:r>
              <a:rPr sz="1600" b="0" i="0">
                <a:solidFill>
                  <a:srgbClr val="1A1A1A"/>
                </a:solidFill>
                <a:latin typeface="Courier New"/>
              </a:rPr>
              <a:t>00, 0101, 011, 10, 1101, 111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Найдите кратчайший код для седьмой буквы; при равенстве — с наименьшим числовым значением.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Ответы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Итоги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Ответы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19 / 20</a:t>
            </a:r>
          </a:p>
        </p:txBody>
      </p:sp>
      <p:sp>
        <p:nvSpPr>
          <p:cNvPr id="8" name="Ответ 1"/>
          <p:cNvSpPr/>
          <p:nvPr/>
        </p:nvSpPr>
        <p:spPr>
          <a:xfrm>
            <a:off x="457200" y="15087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16</a:t>
            </a:r>
          </a:p>
        </p:txBody>
      </p:sp>
      <p:sp>
        <p:nvSpPr>
          <p:cNvPr id="9" name="Ответ 2"/>
          <p:cNvSpPr/>
          <p:nvPr/>
        </p:nvSpPr>
        <p:spPr>
          <a:xfrm>
            <a:off x="3291840" y="15087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001</a:t>
            </a:r>
          </a:p>
        </p:txBody>
      </p:sp>
      <p:sp>
        <p:nvSpPr>
          <p:cNvPr id="10" name="Ответ 3"/>
          <p:cNvSpPr/>
          <p:nvPr/>
        </p:nvSpPr>
        <p:spPr>
          <a:xfrm>
            <a:off x="6126480" y="15087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111</a:t>
            </a:r>
          </a:p>
        </p:txBody>
      </p:sp>
      <p:sp>
        <p:nvSpPr>
          <p:cNvPr id="11" name="Ответ 4"/>
          <p:cNvSpPr/>
          <p:nvPr/>
        </p:nvSpPr>
        <p:spPr>
          <a:xfrm>
            <a:off x="8961120" y="15087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26</a:t>
            </a:r>
          </a:p>
        </p:txBody>
      </p:sp>
      <p:sp>
        <p:nvSpPr>
          <p:cNvPr id="12" name="Ответ 5"/>
          <p:cNvSpPr/>
          <p:nvPr/>
        </p:nvSpPr>
        <p:spPr>
          <a:xfrm>
            <a:off x="457200" y="33375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СОКОЛ</a:t>
            </a:r>
          </a:p>
        </p:txBody>
      </p:sp>
      <p:sp>
        <p:nvSpPr>
          <p:cNvPr id="13" name="Ответ 6"/>
          <p:cNvSpPr/>
          <p:nvPr/>
        </p:nvSpPr>
        <p:spPr>
          <a:xfrm>
            <a:off x="3291840" y="33375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25</a:t>
            </a:r>
          </a:p>
        </p:txBody>
      </p:sp>
      <p:sp>
        <p:nvSpPr>
          <p:cNvPr id="14" name="Ответ 7"/>
          <p:cNvSpPr/>
          <p:nvPr/>
        </p:nvSpPr>
        <p:spPr>
          <a:xfrm>
            <a:off x="6126480" y="33375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134</a:t>
            </a:r>
          </a:p>
        </p:txBody>
      </p:sp>
      <p:sp>
        <p:nvSpPr>
          <p:cNvPr id="15" name="Ответ 8"/>
          <p:cNvSpPr/>
          <p:nvPr/>
        </p:nvSpPr>
        <p:spPr>
          <a:xfrm>
            <a:off x="8961120" y="3337560"/>
            <a:ext cx="2560320" cy="1554480"/>
          </a:xfrm>
          <a:prstGeom prst="roundRect">
            <a:avLst>
              <a:gd name="adj" fmla="val 10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Задача 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333B2"/>
                </a:solidFill>
                <a:latin typeface="Arial"/>
              </a:rPr>
              <a:t>0100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1277295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Ловушка задачи 3: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ответ 11 неверный — тогда для Г не останется свободной вершины.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Шапка: разделы"/>
          <p:cNvSpPr/>
          <p:nvPr/>
        </p:nvSpPr>
        <p:spPr>
          <a:xfrm>
            <a:off x="0" y="0"/>
            <a:ext cx="6095847" cy="71323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22860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Введение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Теория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Типы задач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A9A"/>
                </a:solidFill>
                <a:latin typeface="Arial"/>
              </a:rPr>
              <a:t>Python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Практика</a:t>
            </a:r>
          </a:p>
        </p:txBody>
      </p:sp>
      <p:sp>
        <p:nvSpPr>
          <p:cNvPr id="3" name="Шапка: подразделы"/>
          <p:cNvSpPr/>
          <p:nvPr/>
        </p:nvSpPr>
        <p:spPr>
          <a:xfrm>
            <a:off x="6095847" y="0"/>
            <a:ext cx="6095847" cy="71323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36576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Задачи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9CD6"/>
                </a:solidFill>
                <a:latin typeface="Arial"/>
              </a:rPr>
              <a:t>Ответы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Итоги</a:t>
            </a:r>
          </a:p>
        </p:txBody>
      </p:sp>
      <p:sp>
        <p:nvSpPr>
          <p:cNvPr id="4" name="Заголовок"/>
          <p:cNvSpPr/>
          <p:nvPr/>
        </p:nvSpPr>
        <p:spPr>
          <a:xfrm>
            <a:off x="0" y="713232"/>
            <a:ext cx="12191695" cy="566928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Итоги и домашнее задание</a:t>
            </a:r>
          </a:p>
        </p:txBody>
      </p:sp>
      <p:sp>
        <p:nvSpPr>
          <p:cNvPr id="5" name="Подвал: автор"/>
          <p:cNvSpPr/>
          <p:nvPr/>
        </p:nvSpPr>
        <p:spPr>
          <a:xfrm>
            <a:off x="0" y="6510528"/>
            <a:ext cx="6095847" cy="34747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Шарф Л.</a:t>
            </a:r>
          </a:p>
        </p:txBody>
      </p:sp>
      <p:sp>
        <p:nvSpPr>
          <p:cNvPr id="6" name="Подвал: тема"/>
          <p:cNvSpPr/>
          <p:nvPr/>
        </p:nvSpPr>
        <p:spPr>
          <a:xfrm>
            <a:off x="6095847" y="6510528"/>
            <a:ext cx="6095847" cy="347472"/>
          </a:xfrm>
          <a:prstGeom prst="rect">
            <a:avLst/>
          </a:prstGeom>
          <a:solidFill>
            <a:srgbClr val="1F1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№4. Условие Фано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10972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20 / 20</a:t>
            </a:r>
          </a:p>
        </p:txBody>
      </p:sp>
      <p:sp>
        <p:nvSpPr>
          <p:cNvPr id="8" name="Блок: Запомнить"/>
          <p:cNvSpPr/>
          <p:nvPr/>
        </p:nvSpPr>
        <p:spPr>
          <a:xfrm>
            <a:off x="457200" y="150876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Шапка блока: Запомнить"/>
          <p:cNvSpPr/>
          <p:nvPr/>
        </p:nvSpPr>
        <p:spPr>
          <a:xfrm>
            <a:off x="457200" y="1508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Запомнить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5394960" cy="25420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Условие Фано: никакой код не начало другого.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Решаем через дерево: буквы — только в листьях.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Свободная вершина: не код, не начало кода, не под буквой.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Частой букве — короткий код. Код нужен каждой букве алфавита.</a:t>
            </a:r>
          </a:p>
        </p:txBody>
      </p:sp>
      <p:sp>
        <p:nvSpPr>
          <p:cNvPr id="11" name="Блок: Домашнее задание"/>
          <p:cNvSpPr/>
          <p:nvPr/>
        </p:nvSpPr>
        <p:spPr>
          <a:xfrm>
            <a:off x="6245352" y="150876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B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Шапка блока: Домашнее задание"/>
          <p:cNvSpPr/>
          <p:nvPr/>
        </p:nvSpPr>
        <p:spPr>
          <a:xfrm>
            <a:off x="6245352" y="1508760"/>
            <a:ext cx="5486400" cy="384048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Домашнее задание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47672"/>
            <a:ext cx="5394960" cy="2542032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Варианты 1–10 из файла «N4. Кодирование. Фано. ДЗ» в папке задания.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Задания №4 в Яндекс Учебнике: </a:t>
            </a:r>
            <a:r>
              <a:rPr sz="1500" b="1" i="0">
                <a:solidFill>
                  <a:srgbClr val="3333B2"/>
                </a:solidFill>
                <a:latin typeface="Arial"/>
              </a:rPr>
              <a:t>ya.cc/8bqw6D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Каждую задачу — через дерево, проверка кодом.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